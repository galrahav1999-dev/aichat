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Thanks for the time. I want to walk you through the design, but more importantly, the thinking that got there. I'll keep slides short and lean on the diagrams — and stop wherever you want to go deeper.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single rule the whole system has to hold to. A bank's compliance officer or a clinician acting on a wrong but confident answer — that's a worse outcome than the system saying 'I don't know.' So everything we built sits on this. The system either cites where the answer came from, or it honestly refuses.</a:t>
            </a:r>
          </a:p>
          <a:p/>
          <a:p>
            <a:r>
              <a:t>[Pause here. This is the anchor.]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 mentioned the trap is jumping to a solution. So I want to show the path I took — and the path starts with what I'd ask. Six clusters. Two examples worth naming: the customer's cross-domain RBAC policy — strict per-department, cross-read, redacted — shapes the whole product, and it's never an engineering choice, it's their policy. And the systems-and-versions question that came up in our chat — I don't assume Confluence Cloud vs Data Center, I confirm it, because connectors live and die on that.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I lead with financial because that's where the time-saved is most measurable and the wrong-answer cost is lowest of the three. Medical I'd touch last — that's where a wrong dose actually hurts someone.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orientation. Two passes — ingest a document, then answer a question. Three memory stores — vector for meaning, SQL for exact values, graph for relationships — the question type picks the store. Governance and deployment run through both passes. Eval watches the whole thing. I'm going to walk into each piece next, but if anything jumps out now, stop me.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teams underestimate this. If parsing is bad — a scanned page badly OCR'd, a financial table flattened into prose, a locked file silently skipped — everything downstream inherits that error. Three things matter here. One, file type branches: digital PDF, DOCX, spreadsheet — each needs its own path. A financial XLSX gets a table parser that keeps rows and columns; flatten it to prose and you lose every relationship between the numbers. Two, scans go through a confidence ladder. Cheap OCR first, then preprocessing and retry, then a stronger model, then flag for human. Never silently accept. Three, every chunk keeps its page and section — that's what makes citation possible later.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one I'd argue hardest for. RAG with a single vector store is the default, but it's wrong for these domains. If a clinician asks for the dose, or an analyst asks for the EBITDA, you want the exact number from a structured table — not the text that mentions that number. SQL via text-to-SQL handles it. Graph handles the 'how does A connect to B' questions a vector store can't traverse. And the gate matters: I only build the graph store when the corpus is actually large and interconnected enough to justify it.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pipeline is six steps but trust is enforced at three of them. First, retrieval is grounded — hybrid vector + BM25, RBAC-filtered before search even runs. Second, generation has a hard rule: cite every claim, or refuse. Third, a separate smaller model — a 'judge' — verifies that each claim is actually backed by the source it cites. The line I'd give Or: I don't trust the model to be honest; I build a pipeline that makes dishonesty hard.</a:t>
            </a:r>
          </a:p>
          <a:p/>
          <a:p>
            <a:r>
              <a:t>If they probe on routing: Routing is layered. Fast keyword rules first. If unclear, a small router model classifies and returns a structured label — like JSON {"route": "sql"}. Then plain application code routes on that label. The model decides, the code acts.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assignment isn't 'build RAG' — it's 'handle jargon.' Three concrete failure modes. The third is the one general LLMs miss: a financial 'subordinated' means one thing in textbook law and might mean something more specific in this particular indenture. So I built a jargon layer that double-grounds — general meaning from UMLS, SNOMED, or financial taxonomies; in-context meaning from this document with a citation. And critically, when those two diverge, the system flags it. That's the kind of catch a junior analyst would miss and a senior one would notice.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things to highlight here. One, the golden set is expert-built — for medical, that means an actual clinician validates the test set. Two, evals run as a CI gate, so every prompt change, model change, or index change re-tests against that golden set before it ships. And three, the load-bearing online metric is edit-rate — how much users change the answer before using it. That should fall over time. If it doesn't, the system isn't actually getting more trusted.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one slide to show I've thought about implementation, not just architecture. The default I'd commit to per layer, with one assumption and one tradeoff. I want to be clear — these are conventional choices, not exotic ones. The strongest move isn't picking the trendiest tool, it's defending the capability and being honest about the tradeoff. If R&amp;D has a different opinion on any row, I'd want to hear it before committing.</a:t>
            </a:r>
          </a:p>
          <a:p/>
          <a:p>
            <a:r>
              <a:t>Ready: 'Why pgvector and not Pinecone at MVP?' — because pgvector lives inside the Postgres customers already trust; there's no new database for the security team to approve.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architecture, four modes. The thin swap layer changes which model runs and where. The routing driver shifts from 'cost' in cloud to 'what's allowed' in air-gap. And on RBAC — it's enforced twice. Before retrieval we filter what the user can even see; after retrieval we double-check, because defense in depth in a regulated environment isn't paranoia, it's the standard.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won't walk through every pixel — these are in the appendix — but three things to call out across all of them: one, citations are first-class and one tap away, never buried. Two, confidence is always visible on every answer and every term. Three, a refusal is a designed state — gray, not red — because in this product, an honest refusal is a feature, not an error.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things designed deliberately here. The observability strip — 'Routing: semantic, Rerank: applied, Citation-check: full' — is the API's metadata block surfaced to the user. They see how the answer was produced, which is itself a trust signal. The inline citations break the answer into claims, each citation clickable, so the user verifies in two seconds. And the suppressed-claim warning — when the citation-check killed a claim that couldn't be backed — is visible, not hidden. That's the cite-or-refuse promise in the UI.</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probably the slide that says the most about the product. A refusal isn't a 500 error. It's a designed state, with three parts: what we couldn't answer, why we couldn't answer it given what's in the corpus, and what the user might try instead. Gray, not red, because saying 'I don't know' isn't a system failure — it's the product working correctly.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endpoints — one per core use case, one per wireframe screen. The most distinctive design choice: a refusal is a 200 OK, not an error code. Errors are for system failures — auth, outage. Refusals are part of the product. The user gets a structured 'answer is null, here's why, here's what you might try.' That's the product philosophy turned into the response schema.</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won't read them. The point is the design has a position on each. The two I'd highlight: conflicting sources — we surface the conflict, never average it away, because in legal that's a litigable difference. And the stale-cache one — when a document updates, the CDC event that re-ingests it is the same event that invalidates the cache. One mechanism, two jobs.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tiers. The north star is grounding rate — does every claim trace back to a source? That's the promise. Secondary metrics tell us if it's adopted and valued. Guardrails catch regressions. Numbers shown are illustrative — I'd set the real bars with R&amp;D against the customer's risk tolerance. The clearest signal of all is edit-rate. If users stop editing and start clicking the citations, they've started trusting it. That's the moment that matters.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stages. The principle is: we promote on quality thresholds, not on dates. If grounding hasn't cleared 95% on the golden set, we don't ship. Medical is intentionally last because that's where a wrong answer hurts most — I want the system mature before it's deployed there. And every new feature ships behind a feature flag, so if we see a guardrail regression we flip it back without a code deploy.</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anti-feature-factory slide. Each of these I considered, named, and cut deliberately — and each has a trigger that brings it back. The Matrix grid is Hebbia's pattern; it's the right surface when the job is bulk extraction across many docs, but our MVP is cited Q&amp;A. The discipline isn't 'don't build,' it's 'don't build yet.' The trigger writes itself: when 30% of user questions are clearly investigative-multi-step, Deep Research earns its place.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things I'd defend hardest if you pressed me. The frame, the architecture, the discipline. The frame is the cite-or-refuse promise — non-negotiable in these domains. The architecture is the three-store model — vector for meaning, SQL for exact values, graph for relationships — because a number with legal weight should be retrieved exactly, not approximated. The discipline is the anti-over-engineering one — gate the expensive, refuse the unsupported, defer the unproven. That's the product I'd build, and the way I'd build it. Happy to go anywhere you want from here.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map of what else is in the submission, in case you want to go deeper anywhere. I tried to keep this deck to the spine — the documents are where the depth lives. Where would you like to dig in?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463040"/>
            <a:ext cx="10820095" cy="1371600"/>
          </a:xfrm>
          <a:prstGeom prst="rect">
            <a:avLst/>
          </a:prstGeom>
          <a:noFill/>
        </p:spPr>
        <p:txBody>
          <a:bodyPr wrap="square">
            <a:spAutoFit/>
          </a:bodyPr>
          <a:lstStyle/>
          <a:p>
            <a:pPr algn="l"/>
            <a:r>
              <a:rPr sz="6800" b="1" i="0">
                <a:solidFill>
                  <a:srgbClr val="0F172A"/>
                </a:solidFill>
                <a:latin typeface="Inter"/>
              </a:rPr>
              <a:t>Jargon AI</a:t>
            </a:r>
          </a:p>
        </p:txBody>
      </p:sp>
      <p:sp>
        <p:nvSpPr>
          <p:cNvPr id="4" name="TextBox 3"/>
          <p:cNvSpPr txBox="1"/>
          <p:nvPr/>
        </p:nvSpPr>
        <p:spPr>
          <a:xfrm>
            <a:off x="685800" y="2788920"/>
            <a:ext cx="10820095" cy="548640"/>
          </a:xfrm>
          <a:prstGeom prst="rect">
            <a:avLst/>
          </a:prstGeom>
          <a:noFill/>
        </p:spPr>
        <p:txBody>
          <a:bodyPr wrap="square">
            <a:spAutoFit/>
          </a:bodyPr>
          <a:lstStyle/>
          <a:p>
            <a:pPr algn="l"/>
            <a:r>
              <a:rPr sz="2400" b="0" i="0">
                <a:solidFill>
                  <a:srgbClr val="2563EB"/>
                </a:solidFill>
                <a:latin typeface="Inter"/>
              </a:rPr>
              <a:t>An AI system for jargon-heavy documents</a:t>
            </a:r>
          </a:p>
        </p:txBody>
      </p:sp>
      <p:sp>
        <p:nvSpPr>
          <p:cNvPr id="5" name="TextBox 4"/>
          <p:cNvSpPr txBox="1"/>
          <p:nvPr/>
        </p:nvSpPr>
        <p:spPr>
          <a:xfrm>
            <a:off x="685800" y="3401568"/>
            <a:ext cx="10820095" cy="411480"/>
          </a:xfrm>
          <a:prstGeom prst="rect">
            <a:avLst/>
          </a:prstGeom>
          <a:noFill/>
        </p:spPr>
        <p:txBody>
          <a:bodyPr wrap="square">
            <a:spAutoFit/>
          </a:bodyPr>
          <a:lstStyle/>
          <a:p>
            <a:pPr algn="l"/>
            <a:r>
              <a:rPr sz="1700" b="0" i="0">
                <a:solidFill>
                  <a:srgbClr val="64748B"/>
                </a:solidFill>
                <a:latin typeface="Inter"/>
              </a:rPr>
              <a:t>Medical  ·  Legal  ·  Financial</a:t>
            </a:r>
          </a:p>
        </p:txBody>
      </p:sp>
      <p:sp>
        <p:nvSpPr>
          <p:cNvPr id="6" name="Rectangle 5"/>
          <p:cNvSpPr/>
          <p:nvPr/>
        </p:nvSpPr>
        <p:spPr>
          <a:xfrm>
            <a:off x="685800" y="4069080"/>
            <a:ext cx="10820095"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4251960"/>
            <a:ext cx="10820095" cy="347472"/>
          </a:xfrm>
          <a:prstGeom prst="rect">
            <a:avLst/>
          </a:prstGeom>
          <a:noFill/>
        </p:spPr>
        <p:txBody>
          <a:bodyPr wrap="square">
            <a:spAutoFit/>
          </a:bodyPr>
          <a:lstStyle/>
          <a:p>
            <a:pPr algn="l"/>
            <a:r>
              <a:rPr sz="1300" b="0" i="0">
                <a:solidFill>
                  <a:srgbClr val="64748B"/>
                </a:solidFill>
                <a:latin typeface="Inter"/>
              </a:rPr>
              <a:t>Gal Rahav  ·  TPM Home Assignment  ·  Jeen.ai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685800" y="1371600"/>
            <a:ext cx="10820095" cy="4389120"/>
          </a:xfrm>
          <a:prstGeom prst="rect">
            <a:avLst/>
          </a:prstGeom>
          <a:noFill/>
        </p:spPr>
        <p:txBody>
          <a:bodyPr wrap="square">
            <a:spAutoFit/>
          </a:bodyPr>
          <a:lstStyle/>
          <a:p>
            <a:pPr algn="ctr">
              <a:spcBef>
                <a:spcPts val="1800"/>
              </a:spcBef>
              <a:spcAft>
                <a:spcPts val="600"/>
              </a:spcAft>
            </a:pPr>
            <a:r>
              <a:rPr b="0" sz="3800">
                <a:solidFill>
                  <a:srgbClr val="FFFFFF"/>
                </a:solidFill>
                <a:latin typeface="Inter"/>
              </a:rPr>
              <a:t>In medicine, law, and finance,</a:t>
            </a:r>
          </a:p>
          <a:p>
            <a:pPr algn="ctr">
              <a:spcBef>
                <a:spcPts val="1800"/>
              </a:spcBef>
              <a:spcAft>
                <a:spcPts val="600"/>
              </a:spcAft>
            </a:pPr>
            <a:r>
              <a:rPr b="1" sz="4200">
                <a:solidFill>
                  <a:srgbClr val="2563EB"/>
                </a:solidFill>
                <a:latin typeface="Inter"/>
              </a:rPr>
              <a:t>a confident wrong answer</a:t>
            </a:r>
          </a:p>
          <a:p>
            <a:pPr algn="ctr">
              <a:spcBef>
                <a:spcPts val="1800"/>
              </a:spcBef>
              <a:spcAft>
                <a:spcPts val="600"/>
              </a:spcAft>
            </a:pPr>
            <a:r>
              <a:rPr b="0" sz="3800">
                <a:solidFill>
                  <a:srgbClr val="FFFFFF"/>
                </a:solidFill>
                <a:latin typeface="Inter"/>
              </a:rPr>
              <a:t>is worse than no answer.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10820095" cy="566928"/>
          </a:xfrm>
          <a:prstGeom prst="rect">
            <a:avLst/>
          </a:prstGeom>
          <a:noFill/>
        </p:spPr>
        <p:txBody>
          <a:bodyPr wrap="square">
            <a:spAutoFit/>
          </a:bodyPr>
          <a:lstStyle/>
          <a:p>
            <a:pPr algn="l"/>
            <a:r>
              <a:rPr sz="2600" b="1" i="0">
                <a:solidFill>
                  <a:srgbClr val="0F172A"/>
                </a:solidFill>
                <a:latin typeface="Inter"/>
              </a:rPr>
              <a:t>Before designing, I'd ask</a:t>
            </a:r>
          </a:p>
        </p:txBody>
      </p:sp>
      <p:sp>
        <p:nvSpPr>
          <p:cNvPr id="3" name="TextBox 2"/>
          <p:cNvSpPr txBox="1"/>
          <p:nvPr/>
        </p:nvSpPr>
        <p:spPr>
          <a:xfrm>
            <a:off x="685800" y="1069848"/>
            <a:ext cx="10820095" cy="347472"/>
          </a:xfrm>
          <a:prstGeom prst="rect">
            <a:avLst/>
          </a:prstGeom>
          <a:noFill/>
        </p:spPr>
        <p:txBody>
          <a:bodyPr wrap="square">
            <a:spAutoFit/>
          </a:bodyPr>
          <a:lstStyle/>
          <a:p>
            <a:pPr algn="l"/>
            <a:r>
              <a:rPr sz="1400" b="0" i="1">
                <a:solidFill>
                  <a:srgbClr val="64748B"/>
                </a:solidFill>
                <a:latin typeface="Inter"/>
              </a:rPr>
              <a:t>I started with questions, not a solution.</a:t>
            </a:r>
          </a:p>
        </p:txBody>
      </p:sp>
      <p:sp>
        <p:nvSpPr>
          <p:cNvPr id="4" name="Rectangle 3"/>
          <p:cNvSpPr/>
          <p:nvPr/>
        </p:nvSpPr>
        <p:spPr>
          <a:xfrm>
            <a:off x="685800" y="1453896"/>
            <a:ext cx="10820095" cy="1905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1719072"/>
            <a:ext cx="3496970" cy="1691640"/>
          </a:xfrm>
          <a:prstGeom prst="rect">
            <a:avLst/>
          </a:prstGeom>
          <a:solidFill>
            <a:srgbClr val="F1F5F9"/>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901952"/>
            <a:ext cx="3131210" cy="411480"/>
          </a:xfrm>
          <a:prstGeom prst="rect">
            <a:avLst/>
          </a:prstGeom>
          <a:noFill/>
        </p:spPr>
        <p:txBody>
          <a:bodyPr wrap="square">
            <a:spAutoFit/>
          </a:bodyPr>
          <a:lstStyle/>
          <a:p>
            <a:pPr algn="l"/>
            <a:r>
              <a:rPr sz="1400" b="1" i="0">
                <a:solidFill>
                  <a:srgbClr val="2563EB"/>
                </a:solidFill>
                <a:latin typeface="Inter"/>
              </a:rPr>
              <a:t>Users &amp; jobs</a:t>
            </a:r>
          </a:p>
        </p:txBody>
      </p:sp>
      <p:sp>
        <p:nvSpPr>
          <p:cNvPr id="7" name="TextBox 6"/>
          <p:cNvSpPr txBox="1"/>
          <p:nvPr/>
        </p:nvSpPr>
        <p:spPr>
          <a:xfrm>
            <a:off x="868680" y="2313432"/>
            <a:ext cx="3131210" cy="914400"/>
          </a:xfrm>
          <a:prstGeom prst="rect">
            <a:avLst/>
          </a:prstGeom>
          <a:noFill/>
        </p:spPr>
        <p:txBody>
          <a:bodyPr wrap="square">
            <a:spAutoFit/>
          </a:bodyPr>
          <a:lstStyle/>
          <a:p>
            <a:pPr algn="l"/>
            <a:r>
              <a:rPr sz="1200" b="0" i="0">
                <a:solidFill>
                  <a:srgbClr val="0F172A"/>
                </a:solidFill>
                <a:latin typeface="Inter"/>
              </a:rPr>
              <a:t>Who, what tasks, accuracy bar</a:t>
            </a:r>
          </a:p>
        </p:txBody>
      </p:sp>
      <p:sp>
        <p:nvSpPr>
          <p:cNvPr id="8" name="Rectangle 7"/>
          <p:cNvSpPr/>
          <p:nvPr/>
        </p:nvSpPr>
        <p:spPr>
          <a:xfrm>
            <a:off x="4347362" y="1719072"/>
            <a:ext cx="3496970" cy="1691640"/>
          </a:xfrm>
          <a:prstGeom prst="rect">
            <a:avLst/>
          </a:prstGeom>
          <a:solidFill>
            <a:srgbClr val="F1F5F9"/>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0242" y="1901952"/>
            <a:ext cx="3131210" cy="411480"/>
          </a:xfrm>
          <a:prstGeom prst="rect">
            <a:avLst/>
          </a:prstGeom>
          <a:noFill/>
        </p:spPr>
        <p:txBody>
          <a:bodyPr wrap="square">
            <a:spAutoFit/>
          </a:bodyPr>
          <a:lstStyle/>
          <a:p>
            <a:pPr algn="l"/>
            <a:r>
              <a:rPr sz="1400" b="1" i="0">
                <a:solidFill>
                  <a:srgbClr val="2563EB"/>
                </a:solidFill>
                <a:latin typeface="Inter"/>
              </a:rPr>
              <a:t>Domain &amp; data</a:t>
            </a:r>
          </a:p>
        </p:txBody>
      </p:sp>
      <p:sp>
        <p:nvSpPr>
          <p:cNvPr id="10" name="TextBox 9"/>
          <p:cNvSpPr txBox="1"/>
          <p:nvPr/>
        </p:nvSpPr>
        <p:spPr>
          <a:xfrm>
            <a:off x="4530242" y="2313432"/>
            <a:ext cx="3131210" cy="914400"/>
          </a:xfrm>
          <a:prstGeom prst="rect">
            <a:avLst/>
          </a:prstGeom>
          <a:noFill/>
        </p:spPr>
        <p:txBody>
          <a:bodyPr wrap="square">
            <a:spAutoFit/>
          </a:bodyPr>
          <a:lstStyle/>
          <a:p>
            <a:pPr algn="l"/>
            <a:r>
              <a:rPr sz="1200" b="0" i="0">
                <a:solidFill>
                  <a:srgbClr val="0F172A"/>
                </a:solidFill>
                <a:latin typeface="Inter"/>
              </a:rPr>
              <a:t>PHI / MNPI / PII, regulations binding the customer</a:t>
            </a:r>
          </a:p>
        </p:txBody>
      </p:sp>
      <p:sp>
        <p:nvSpPr>
          <p:cNvPr id="11" name="Rectangle 10"/>
          <p:cNvSpPr/>
          <p:nvPr/>
        </p:nvSpPr>
        <p:spPr>
          <a:xfrm>
            <a:off x="8008924" y="1719072"/>
            <a:ext cx="3496970" cy="1691640"/>
          </a:xfrm>
          <a:prstGeom prst="rect">
            <a:avLst/>
          </a:prstGeom>
          <a:solidFill>
            <a:srgbClr val="F1F5F9"/>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91804" y="1901952"/>
            <a:ext cx="3131210" cy="411480"/>
          </a:xfrm>
          <a:prstGeom prst="rect">
            <a:avLst/>
          </a:prstGeom>
          <a:noFill/>
        </p:spPr>
        <p:txBody>
          <a:bodyPr wrap="square">
            <a:spAutoFit/>
          </a:bodyPr>
          <a:lstStyle/>
          <a:p>
            <a:pPr algn="l"/>
            <a:r>
              <a:rPr sz="1400" b="1" i="0">
                <a:solidFill>
                  <a:srgbClr val="2563EB"/>
                </a:solidFill>
                <a:latin typeface="Inter"/>
              </a:rPr>
              <a:t>Deployment</a:t>
            </a:r>
          </a:p>
        </p:txBody>
      </p:sp>
      <p:sp>
        <p:nvSpPr>
          <p:cNvPr id="13" name="TextBox 12"/>
          <p:cNvSpPr txBox="1"/>
          <p:nvPr/>
        </p:nvSpPr>
        <p:spPr>
          <a:xfrm>
            <a:off x="8191804" y="2313432"/>
            <a:ext cx="3131210" cy="914400"/>
          </a:xfrm>
          <a:prstGeom prst="rect">
            <a:avLst/>
          </a:prstGeom>
          <a:noFill/>
        </p:spPr>
        <p:txBody>
          <a:bodyPr wrap="square">
            <a:spAutoFit/>
          </a:bodyPr>
          <a:lstStyle/>
          <a:p>
            <a:pPr algn="l"/>
            <a:r>
              <a:rPr sz="1200" b="0" i="0">
                <a:solidFill>
                  <a:srgbClr val="0F172A"/>
                </a:solidFill>
                <a:latin typeface="Inter"/>
              </a:rPr>
              <a:t>Cloud, on-prem, air-gapped, who owns the GPUs</a:t>
            </a:r>
          </a:p>
        </p:txBody>
      </p:sp>
      <p:sp>
        <p:nvSpPr>
          <p:cNvPr id="14" name="Rectangle 13"/>
          <p:cNvSpPr/>
          <p:nvPr/>
        </p:nvSpPr>
        <p:spPr>
          <a:xfrm>
            <a:off x="685800" y="3575304"/>
            <a:ext cx="3496970" cy="1691640"/>
          </a:xfrm>
          <a:prstGeom prst="rect">
            <a:avLst/>
          </a:prstGeom>
          <a:solidFill>
            <a:srgbClr val="F1F5F9"/>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3758184"/>
            <a:ext cx="3131210" cy="411480"/>
          </a:xfrm>
          <a:prstGeom prst="rect">
            <a:avLst/>
          </a:prstGeom>
          <a:noFill/>
        </p:spPr>
        <p:txBody>
          <a:bodyPr wrap="square">
            <a:spAutoFit/>
          </a:bodyPr>
          <a:lstStyle/>
          <a:p>
            <a:pPr algn="l"/>
            <a:r>
              <a:rPr sz="1400" b="1" i="0">
                <a:solidFill>
                  <a:srgbClr val="2563EB"/>
                </a:solidFill>
                <a:latin typeface="Inter"/>
              </a:rPr>
              <a:t>Failure &amp; liability</a:t>
            </a:r>
          </a:p>
        </p:txBody>
      </p:sp>
      <p:sp>
        <p:nvSpPr>
          <p:cNvPr id="16" name="TextBox 15"/>
          <p:cNvSpPr txBox="1"/>
          <p:nvPr/>
        </p:nvSpPr>
        <p:spPr>
          <a:xfrm>
            <a:off x="868680" y="4169664"/>
            <a:ext cx="3131210" cy="914400"/>
          </a:xfrm>
          <a:prstGeom prst="rect">
            <a:avLst/>
          </a:prstGeom>
          <a:noFill/>
        </p:spPr>
        <p:txBody>
          <a:bodyPr wrap="square">
            <a:spAutoFit/>
          </a:bodyPr>
          <a:lstStyle/>
          <a:p>
            <a:pPr algn="l"/>
            <a:r>
              <a:rPr sz="1200" b="0" i="0">
                <a:solidFill>
                  <a:srgbClr val="0F172A"/>
                </a:solidFill>
                <a:latin typeface="Inter"/>
              </a:rPr>
              <a:t>Who owns 'correct,' what happens to a wrong answer</a:t>
            </a:r>
          </a:p>
        </p:txBody>
      </p:sp>
      <p:sp>
        <p:nvSpPr>
          <p:cNvPr id="17" name="Rectangle 16"/>
          <p:cNvSpPr/>
          <p:nvPr/>
        </p:nvSpPr>
        <p:spPr>
          <a:xfrm>
            <a:off x="4347362" y="3575304"/>
            <a:ext cx="3496970" cy="1691640"/>
          </a:xfrm>
          <a:prstGeom prst="rect">
            <a:avLst/>
          </a:prstGeom>
          <a:solidFill>
            <a:srgbClr val="F1F5F9"/>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30242" y="3758184"/>
            <a:ext cx="3131210" cy="411480"/>
          </a:xfrm>
          <a:prstGeom prst="rect">
            <a:avLst/>
          </a:prstGeom>
          <a:noFill/>
        </p:spPr>
        <p:txBody>
          <a:bodyPr wrap="square">
            <a:spAutoFit/>
          </a:bodyPr>
          <a:lstStyle/>
          <a:p>
            <a:pPr algn="l"/>
            <a:r>
              <a:rPr sz="1400" b="1" i="0">
                <a:solidFill>
                  <a:srgbClr val="2563EB"/>
                </a:solidFill>
                <a:latin typeface="Inter"/>
              </a:rPr>
              <a:t>Cross-domain access</a:t>
            </a:r>
          </a:p>
        </p:txBody>
      </p:sp>
      <p:sp>
        <p:nvSpPr>
          <p:cNvPr id="19" name="TextBox 18"/>
          <p:cNvSpPr txBox="1"/>
          <p:nvPr/>
        </p:nvSpPr>
        <p:spPr>
          <a:xfrm>
            <a:off x="4530242" y="4169664"/>
            <a:ext cx="3131210" cy="914400"/>
          </a:xfrm>
          <a:prstGeom prst="rect">
            <a:avLst/>
          </a:prstGeom>
          <a:noFill/>
        </p:spPr>
        <p:txBody>
          <a:bodyPr wrap="square">
            <a:spAutoFit/>
          </a:bodyPr>
          <a:lstStyle/>
          <a:p>
            <a:pPr algn="l"/>
            <a:r>
              <a:rPr sz="1200" b="0" i="0">
                <a:solidFill>
                  <a:srgbClr val="0F172A"/>
                </a:solidFill>
                <a:latin typeface="Inter"/>
              </a:rPr>
              <a:t>Can a Finance user query Legal docs?</a:t>
            </a:r>
          </a:p>
        </p:txBody>
      </p:sp>
      <p:sp>
        <p:nvSpPr>
          <p:cNvPr id="20" name="Rectangle 19"/>
          <p:cNvSpPr/>
          <p:nvPr/>
        </p:nvSpPr>
        <p:spPr>
          <a:xfrm>
            <a:off x="8008924" y="3575304"/>
            <a:ext cx="3496970" cy="1691640"/>
          </a:xfrm>
          <a:prstGeom prst="rect">
            <a:avLst/>
          </a:prstGeom>
          <a:solidFill>
            <a:srgbClr val="F1F5F9"/>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91804" y="3758184"/>
            <a:ext cx="3131210" cy="411480"/>
          </a:xfrm>
          <a:prstGeom prst="rect">
            <a:avLst/>
          </a:prstGeom>
          <a:noFill/>
        </p:spPr>
        <p:txBody>
          <a:bodyPr wrap="square">
            <a:spAutoFit/>
          </a:bodyPr>
          <a:lstStyle/>
          <a:p>
            <a:pPr algn="l"/>
            <a:r>
              <a:rPr sz="1400" b="1" i="0">
                <a:solidFill>
                  <a:srgbClr val="2563EB"/>
                </a:solidFill>
                <a:latin typeface="Inter"/>
              </a:rPr>
              <a:t>Scope &amp; integration</a:t>
            </a:r>
          </a:p>
        </p:txBody>
      </p:sp>
      <p:sp>
        <p:nvSpPr>
          <p:cNvPr id="22" name="TextBox 21"/>
          <p:cNvSpPr txBox="1"/>
          <p:nvPr/>
        </p:nvSpPr>
        <p:spPr>
          <a:xfrm>
            <a:off x="8191804" y="4169664"/>
            <a:ext cx="3131210" cy="914400"/>
          </a:xfrm>
          <a:prstGeom prst="rect">
            <a:avLst/>
          </a:prstGeom>
          <a:noFill/>
        </p:spPr>
        <p:txBody>
          <a:bodyPr wrap="square">
            <a:spAutoFit/>
          </a:bodyPr>
          <a:lstStyle/>
          <a:p>
            <a:pPr algn="l"/>
            <a:r>
              <a:rPr sz="1200" b="0" i="0">
                <a:solidFill>
                  <a:srgbClr val="0F172A"/>
                </a:solidFill>
                <a:latin typeface="Inter"/>
              </a:rPr>
              <a:t>Which systems, which versions, which connectors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10820095" cy="566928"/>
          </a:xfrm>
          <a:prstGeom prst="rect">
            <a:avLst/>
          </a:prstGeom>
          <a:noFill/>
        </p:spPr>
        <p:txBody>
          <a:bodyPr wrap="square">
            <a:spAutoFit/>
          </a:bodyPr>
          <a:lstStyle/>
          <a:p>
            <a:pPr algn="l"/>
            <a:r>
              <a:rPr sz="2600" b="1" i="0">
                <a:solidFill>
                  <a:srgbClr val="0F172A"/>
                </a:solidFill>
                <a:latin typeface="Inter"/>
              </a:rPr>
              <a:t>What I assumed up front</a:t>
            </a:r>
          </a:p>
        </p:txBody>
      </p:sp>
      <p:sp>
        <p:nvSpPr>
          <p:cNvPr id="3" name="TextBox 2"/>
          <p:cNvSpPr txBox="1"/>
          <p:nvPr/>
        </p:nvSpPr>
        <p:spPr>
          <a:xfrm>
            <a:off x="685800" y="1069848"/>
            <a:ext cx="10820095" cy="347472"/>
          </a:xfrm>
          <a:prstGeom prst="rect">
            <a:avLst/>
          </a:prstGeom>
          <a:noFill/>
        </p:spPr>
        <p:txBody>
          <a:bodyPr wrap="square">
            <a:spAutoFit/>
          </a:bodyPr>
          <a:lstStyle/>
          <a:p>
            <a:pPr algn="l"/>
            <a:r>
              <a:rPr sz="1400" b="0" i="1">
                <a:solidFill>
                  <a:srgbClr val="64748B"/>
                </a:solidFill>
                <a:latin typeface="Inter"/>
              </a:rPr>
              <a:t>Assumptions I'm willing to defend</a:t>
            </a:r>
          </a:p>
        </p:txBody>
      </p:sp>
      <p:sp>
        <p:nvSpPr>
          <p:cNvPr id="4" name="Rectangle 3"/>
          <p:cNvSpPr/>
          <p:nvPr/>
        </p:nvSpPr>
        <p:spPr>
          <a:xfrm>
            <a:off x="685800" y="1453896"/>
            <a:ext cx="10820095" cy="1905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764792"/>
            <a:ext cx="10820095" cy="4754880"/>
          </a:xfrm>
          <a:prstGeom prst="rect">
            <a:avLst/>
          </a:prstGeom>
          <a:noFill/>
        </p:spPr>
        <p:txBody>
          <a:bodyPr wrap="square">
            <a:spAutoFit/>
          </a:bodyPr>
          <a:lstStyle/>
          <a:p>
            <a:pPr algn="l">
              <a:spcBef>
                <a:spcPts val="0"/>
              </a:spcBef>
              <a:spcAft>
                <a:spcPts val="600"/>
              </a:spcAft>
            </a:pPr>
            <a:r>
              <a:rPr b="1" sz="1700">
                <a:solidFill>
                  <a:srgbClr val="0F172A"/>
                </a:solidFill>
                <a:latin typeface="Inter"/>
              </a:rPr>
              <a:t>• Input is text and numbers —</a:t>
            </a:r>
            <a:r>
              <a:rPr b="0" sz="1400">
                <a:solidFill>
                  <a:srgbClr val="64748B"/>
                </a:solidFill>
                <a:latin typeface="Inter"/>
              </a:rPr>
              <a:t>  PDF, DOCX, PPTX, XLSX, CSV, scanned PDFs. Out of scope: images, audio, video.</a:t>
            </a:r>
          </a:p>
          <a:p>
            <a:pPr algn="l">
              <a:spcBef>
                <a:spcPts val="2000"/>
              </a:spcBef>
              <a:spcAft>
                <a:spcPts val="600"/>
              </a:spcAft>
            </a:pPr>
            <a:r>
              <a:rPr b="1" sz="1700">
                <a:solidFill>
                  <a:srgbClr val="0F172A"/>
                </a:solidFill>
                <a:latin typeface="Inter"/>
              </a:rPr>
              <a:t>• Lead with Financial as the MVP wedge.</a:t>
            </a:r>
            <a:r>
              <a:rPr b="0" sz="1400">
                <a:solidFill>
                  <a:srgbClr val="64748B"/>
                </a:solidFill>
                <a:latin typeface="Inter"/>
              </a:rPr>
              <a:t>  Easiest measurement, lowest liability, biggest budget. Legal next, Medical last.</a:t>
            </a:r>
          </a:p>
          <a:p>
            <a:pPr algn="l">
              <a:spcBef>
                <a:spcPts val="2000"/>
              </a:spcBef>
              <a:spcAft>
                <a:spcPts val="600"/>
              </a:spcAft>
            </a:pPr>
            <a:r>
              <a:rPr b="1" sz="1700">
                <a:solidFill>
                  <a:srgbClr val="0F172A"/>
                </a:solidFill>
                <a:latin typeface="Inter"/>
              </a:rPr>
              <a:t>• Cross-domain access defaults to OFF.</a:t>
            </a:r>
            <a:r>
              <a:rPr b="0" sz="1400">
                <a:solidFill>
                  <a:srgbClr val="64748B"/>
                </a:solidFill>
                <a:latin typeface="Inter"/>
              </a:rPr>
              <a:t>  Customer policy overrides.</a:t>
            </a:r>
          </a:p>
          <a:p>
            <a:pPr algn="l">
              <a:spcBef>
                <a:spcPts val="2000"/>
              </a:spcBef>
              <a:spcAft>
                <a:spcPts val="600"/>
              </a:spcAft>
            </a:pPr>
            <a:r>
              <a:rPr b="1" sz="1700">
                <a:solidFill>
                  <a:srgbClr val="0F172A"/>
                </a:solidFill>
                <a:latin typeface="Inter"/>
              </a:rPr>
              <a:t>• No system versions assumed.</a:t>
            </a:r>
            <a:r>
              <a:rPr b="0" sz="1400">
                <a:solidFill>
                  <a:srgbClr val="64748B"/>
                </a:solidFill>
                <a:latin typeface="Inter"/>
              </a:rPr>
              <a:t>  Connector support is acceptance criteria, not assumption.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10820095" cy="566928"/>
          </a:xfrm>
          <a:prstGeom prst="rect">
            <a:avLst/>
          </a:prstGeom>
          <a:noFill/>
        </p:spPr>
        <p:txBody>
          <a:bodyPr wrap="square">
            <a:spAutoFit/>
          </a:bodyPr>
          <a:lstStyle/>
          <a:p>
            <a:pPr algn="l"/>
            <a:r>
              <a:rPr sz="2600" b="1" i="0">
                <a:solidFill>
                  <a:srgbClr val="0F172A"/>
                </a:solidFill>
                <a:latin typeface="Inter"/>
              </a:rPr>
              <a:t>The shape of the system</a:t>
            </a:r>
          </a:p>
        </p:txBody>
      </p:sp>
      <p:sp>
        <p:nvSpPr>
          <p:cNvPr id="3" name="TextBox 2"/>
          <p:cNvSpPr txBox="1"/>
          <p:nvPr/>
        </p:nvSpPr>
        <p:spPr>
          <a:xfrm>
            <a:off x="685800" y="1069848"/>
            <a:ext cx="10820095" cy="347472"/>
          </a:xfrm>
          <a:prstGeom prst="rect">
            <a:avLst/>
          </a:prstGeom>
          <a:noFill/>
        </p:spPr>
        <p:txBody>
          <a:bodyPr wrap="square">
            <a:spAutoFit/>
          </a:bodyPr>
          <a:lstStyle/>
          <a:p>
            <a:pPr algn="l"/>
            <a:r>
              <a:rPr sz="1400" b="0" i="1">
                <a:solidFill>
                  <a:srgbClr val="64748B"/>
                </a:solidFill>
                <a:latin typeface="Inter"/>
              </a:rPr>
              <a:t>Two passes. Three stores. One promise.</a:t>
            </a:r>
          </a:p>
        </p:txBody>
      </p:sp>
      <p:sp>
        <p:nvSpPr>
          <p:cNvPr id="4" name="Rectangle 3"/>
          <p:cNvSpPr/>
          <p:nvPr/>
        </p:nvSpPr>
        <p:spPr>
          <a:xfrm>
            <a:off x="685800" y="1453896"/>
            <a:ext cx="10820095" cy="1905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1673352"/>
            <a:ext cx="10820095" cy="4544568"/>
          </a:xfrm>
          <a:prstGeom prst="rect">
            <a:avLst/>
          </a:prstGeom>
          <a:solidFill>
            <a:srgbClr val="DBEAFE"/>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i="1">
                <a:solidFill>
                  <a:srgbClr val="2563EB"/>
                </a:solidFill>
                <a:latin typeface="Inter"/>
              </a:rPr>
              <a:t>[ Overview architecture diagram ]
Two passes (Ingest → Query)  ·  Three stores (Vector / SQL / Graph)
Governance + Deployment running through both  ·  Eval watching end-to-end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10820095" cy="566928"/>
          </a:xfrm>
          <a:prstGeom prst="rect">
            <a:avLst/>
          </a:prstGeom>
          <a:noFill/>
        </p:spPr>
        <p:txBody>
          <a:bodyPr wrap="square">
            <a:spAutoFit/>
          </a:bodyPr>
          <a:lstStyle/>
          <a:p>
            <a:pPr algn="l"/>
            <a:r>
              <a:rPr sz="2600" b="1" i="0">
                <a:solidFill>
                  <a:srgbClr val="0F172A"/>
                </a:solidFill>
                <a:latin typeface="Inter"/>
              </a:rPr>
              <a:t>Ingest</a:t>
            </a:r>
          </a:p>
        </p:txBody>
      </p:sp>
      <p:sp>
        <p:nvSpPr>
          <p:cNvPr id="3" name="TextBox 2"/>
          <p:cNvSpPr txBox="1"/>
          <p:nvPr/>
        </p:nvSpPr>
        <p:spPr>
          <a:xfrm>
            <a:off x="685800" y="1069848"/>
            <a:ext cx="10820095" cy="347472"/>
          </a:xfrm>
          <a:prstGeom prst="rect">
            <a:avLst/>
          </a:prstGeom>
          <a:noFill/>
        </p:spPr>
        <p:txBody>
          <a:bodyPr wrap="square">
            <a:spAutoFit/>
          </a:bodyPr>
          <a:lstStyle/>
          <a:p>
            <a:pPr algn="l"/>
            <a:r>
              <a:rPr sz="1400" b="0" i="1">
                <a:solidFill>
                  <a:srgbClr val="64748B"/>
                </a:solidFill>
                <a:latin typeface="Inter"/>
              </a:rPr>
              <a:t>Reliability starts before the model</a:t>
            </a:r>
          </a:p>
        </p:txBody>
      </p:sp>
      <p:sp>
        <p:nvSpPr>
          <p:cNvPr id="4" name="Rectangle 3"/>
          <p:cNvSpPr/>
          <p:nvPr/>
        </p:nvSpPr>
        <p:spPr>
          <a:xfrm>
            <a:off x="685800" y="1453896"/>
            <a:ext cx="10820095" cy="1905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1627632"/>
            <a:ext cx="10820095" cy="4087368"/>
          </a:xfrm>
          <a:prstGeom prst="rect">
            <a:avLst/>
          </a:prstGeom>
          <a:solidFill>
            <a:srgbClr val="DBEAFE"/>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i="1">
                <a:solidFill>
                  <a:srgbClr val="2563EB"/>
                </a:solidFill>
                <a:latin typeface="Inter"/>
              </a:rPr>
              <a:t>[ Ingest deep-dive diagram ]
Triggers (ad-hoc + webhook/CDC)  →  Branch by file type
Scans: confidence ladder (cheap OCR → preprocess → strong model → human flag)
Every chunk carries provenance (page + section) — no provenance = no citation</a:t>
            </a:r>
          </a:p>
        </p:txBody>
      </p:sp>
      <p:sp>
        <p:nvSpPr>
          <p:cNvPr id="6" name="TextBox 5"/>
          <p:cNvSpPr txBox="1"/>
          <p:nvPr/>
        </p:nvSpPr>
        <p:spPr>
          <a:xfrm>
            <a:off x="685800" y="5989320"/>
            <a:ext cx="10820095" cy="685800"/>
          </a:xfrm>
          <a:prstGeom prst="rect">
            <a:avLst/>
          </a:prstGeom>
          <a:noFill/>
        </p:spPr>
        <p:txBody>
          <a:bodyPr wrap="square">
            <a:spAutoFit/>
          </a:bodyPr>
          <a:lstStyle/>
          <a:p>
            <a:pPr algn="l"/>
            <a:r>
              <a:rPr sz="1100" b="0" i="1">
                <a:solidFill>
                  <a:srgbClr val="64748B"/>
                </a:solidFill>
                <a:latin typeface="Inter"/>
              </a:rPr>
              <a:t>Triggers: ad-hoc + automated (webhook/CDC). Files branch by type. Scans go through a cost-aware confidence ladder. Provenance attached at chunking — without it, no citation later.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10820095" cy="566928"/>
          </a:xfrm>
          <a:prstGeom prst="rect">
            <a:avLst/>
          </a:prstGeom>
          <a:noFill/>
        </p:spPr>
        <p:txBody>
          <a:bodyPr wrap="square">
            <a:spAutoFit/>
          </a:bodyPr>
          <a:lstStyle/>
          <a:p>
            <a:pPr algn="l"/>
            <a:r>
              <a:rPr sz="2600" b="1" i="0">
                <a:solidFill>
                  <a:srgbClr val="0F172A"/>
                </a:solidFill>
                <a:latin typeface="Inter"/>
              </a:rPr>
              <a:t>Memory</a:t>
            </a:r>
          </a:p>
        </p:txBody>
      </p:sp>
      <p:sp>
        <p:nvSpPr>
          <p:cNvPr id="3" name="TextBox 2"/>
          <p:cNvSpPr txBox="1"/>
          <p:nvPr/>
        </p:nvSpPr>
        <p:spPr>
          <a:xfrm>
            <a:off x="685800" y="1069848"/>
            <a:ext cx="10820095" cy="347472"/>
          </a:xfrm>
          <a:prstGeom prst="rect">
            <a:avLst/>
          </a:prstGeom>
          <a:noFill/>
        </p:spPr>
        <p:txBody>
          <a:bodyPr wrap="square">
            <a:spAutoFit/>
          </a:bodyPr>
          <a:lstStyle/>
          <a:p>
            <a:pPr algn="l"/>
            <a:r>
              <a:rPr sz="1400" b="0" i="1">
                <a:solidFill>
                  <a:srgbClr val="64748B"/>
                </a:solidFill>
                <a:latin typeface="Inter"/>
              </a:rPr>
              <a:t>One question, the right database.</a:t>
            </a:r>
          </a:p>
        </p:txBody>
      </p:sp>
      <p:sp>
        <p:nvSpPr>
          <p:cNvPr id="4" name="Rectangle 3"/>
          <p:cNvSpPr/>
          <p:nvPr/>
        </p:nvSpPr>
        <p:spPr>
          <a:xfrm>
            <a:off x="685800" y="1453896"/>
            <a:ext cx="10820095" cy="1905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685800" y="1764792"/>
          <a:ext cx="10820094" cy="3108960"/>
        </p:xfrm>
        <a:graphic>
          <a:graphicData uri="http://schemas.openxmlformats.org/drawingml/2006/table">
            <a:tbl>
              <a:tblPr firstRow="1" bandRow="1">
                <a:tableStyleId>{5C22544A-7EE6-4342-B048-85BDC9FD1C3A}</a:tableStyleId>
              </a:tblPr>
              <a:tblGrid>
                <a:gridCol w="3462430"/>
                <a:gridCol w="4328038"/>
                <a:gridCol w="3029626"/>
              </a:tblGrid>
              <a:tr h="777240">
                <a:tc>
                  <a:txBody>
                    <a:bodyPr wrap="square"/>
                    <a:lstStyle/>
                    <a:p>
                      <a:pPr algn="l"/>
                      <a:r>
                        <a:rPr sz="1300" b="1" i="0">
                          <a:solidFill>
                            <a:srgbClr val="FFFFFF"/>
                          </a:solidFill>
                          <a:latin typeface="Inter"/>
                        </a:rPr>
                        <a:t>Question shape</a:t>
                      </a:r>
                    </a:p>
                  </a:txBody>
                  <a:tcPr>
                    <a:solidFill>
                      <a:srgbClr val="1D4ED8"/>
                    </a:solidFill>
                  </a:tcPr>
                </a:tc>
                <a:tc>
                  <a:txBody>
                    <a:bodyPr wrap="square"/>
                    <a:lstStyle/>
                    <a:p>
                      <a:pPr algn="l"/>
                      <a:r>
                        <a:rPr sz="1300" b="1" i="0">
                          <a:solidFill>
                            <a:srgbClr val="FFFFFF"/>
                          </a:solidFill>
                          <a:latin typeface="Inter"/>
                        </a:rPr>
                        <a:t>Example</a:t>
                      </a:r>
                    </a:p>
                  </a:txBody>
                  <a:tcPr>
                    <a:solidFill>
                      <a:srgbClr val="1D4ED8"/>
                    </a:solidFill>
                  </a:tcPr>
                </a:tc>
                <a:tc>
                  <a:txBody>
                    <a:bodyPr wrap="square"/>
                    <a:lstStyle/>
                    <a:p>
                      <a:pPr algn="l"/>
                      <a:r>
                        <a:rPr sz="1300" b="1" i="0">
                          <a:solidFill>
                            <a:srgbClr val="FFFFFF"/>
                          </a:solidFill>
                          <a:latin typeface="Inter"/>
                        </a:rPr>
                        <a:t>Store</a:t>
                      </a:r>
                    </a:p>
                  </a:txBody>
                  <a:tcPr>
                    <a:solidFill>
                      <a:srgbClr val="1D4ED8"/>
                    </a:solidFill>
                  </a:tcPr>
                </a:tc>
              </a:tr>
              <a:tr h="777240">
                <a:tc>
                  <a:txBody>
                    <a:bodyPr wrap="square"/>
                    <a:lstStyle/>
                    <a:p>
                      <a:pPr algn="l"/>
                      <a:r>
                        <a:rPr sz="1300" b="1" i="0">
                          <a:solidFill>
                            <a:srgbClr val="0F172A"/>
                          </a:solidFill>
                          <a:latin typeface="Inter"/>
                        </a:rPr>
                        <a:t>Find information</a:t>
                      </a:r>
                    </a:p>
                  </a:txBody>
                  <a:tcPr>
                    <a:solidFill>
                      <a:srgbClr val="FFFFFF"/>
                    </a:solidFill>
                  </a:tcPr>
                </a:tc>
                <a:tc>
                  <a:txBody>
                    <a:bodyPr wrap="square"/>
                    <a:lstStyle/>
                    <a:p>
                      <a:pPr algn="l"/>
                      <a:r>
                        <a:rPr sz="1200" b="0" i="1">
                          <a:solidFill>
                            <a:srgbClr val="64748B"/>
                          </a:solidFill>
                          <a:latin typeface="Inter"/>
                        </a:rPr>
                        <a:t>"What does this contract say about termination?"</a:t>
                      </a:r>
                    </a:p>
                  </a:txBody>
                  <a:tcPr>
                    <a:solidFill>
                      <a:srgbClr val="FFFFFF"/>
                    </a:solidFill>
                  </a:tcPr>
                </a:tc>
                <a:tc>
                  <a:txBody>
                    <a:bodyPr wrap="square"/>
                    <a:lstStyle/>
                    <a:p>
                      <a:pPr algn="l"/>
                      <a:r>
                        <a:rPr sz="1300" b="1" i="0">
                          <a:solidFill>
                            <a:srgbClr val="2563EB"/>
                          </a:solidFill>
                          <a:latin typeface="Inter"/>
                        </a:rPr>
                        <a:t>Vector DB</a:t>
                      </a:r>
                    </a:p>
                  </a:txBody>
                  <a:tcPr>
                    <a:solidFill>
                      <a:srgbClr val="FFFFFF"/>
                    </a:solidFill>
                  </a:tcPr>
                </a:tc>
              </a:tr>
              <a:tr h="777240">
                <a:tc>
                  <a:txBody>
                    <a:bodyPr wrap="square"/>
                    <a:lstStyle/>
                    <a:p>
                      <a:pPr algn="l"/>
                      <a:r>
                        <a:rPr sz="1300" b="1" i="0">
                          <a:solidFill>
                            <a:srgbClr val="0F172A"/>
                          </a:solidFill>
                          <a:latin typeface="Inter"/>
                        </a:rPr>
                        <a:t>Relationship / multi-hop</a:t>
                      </a:r>
                    </a:p>
                  </a:txBody>
                  <a:tcPr>
                    <a:solidFill>
                      <a:srgbClr val="F1F5F9"/>
                    </a:solidFill>
                  </a:tcPr>
                </a:tc>
                <a:tc>
                  <a:txBody>
                    <a:bodyPr wrap="square"/>
                    <a:lstStyle/>
                    <a:p>
                      <a:pPr algn="l"/>
                      <a:r>
                        <a:rPr sz="1200" b="0" i="1">
                          <a:solidFill>
                            <a:srgbClr val="64748B"/>
                          </a:solidFill>
                          <a:latin typeface="Inter"/>
                        </a:rPr>
                        <a:t>"Which subsidiaries are exposed to this liability?"</a:t>
                      </a:r>
                    </a:p>
                  </a:txBody>
                  <a:tcPr>
                    <a:solidFill>
                      <a:srgbClr val="F1F5F9"/>
                    </a:solidFill>
                  </a:tcPr>
                </a:tc>
                <a:tc>
                  <a:txBody>
                    <a:bodyPr wrap="square"/>
                    <a:lstStyle/>
                    <a:p>
                      <a:pPr algn="l"/>
                      <a:r>
                        <a:rPr sz="1300" b="1" i="0">
                          <a:solidFill>
                            <a:srgbClr val="2563EB"/>
                          </a:solidFill>
                          <a:latin typeface="Inter"/>
                        </a:rPr>
                        <a:t>Knowledge Graph</a:t>
                      </a:r>
                    </a:p>
                  </a:txBody>
                  <a:tcPr>
                    <a:solidFill>
                      <a:srgbClr val="F1F5F9"/>
                    </a:solidFill>
                  </a:tcPr>
                </a:tc>
              </a:tr>
              <a:tr h="777240">
                <a:tc>
                  <a:txBody>
                    <a:bodyPr wrap="square"/>
                    <a:lstStyle/>
                    <a:p>
                      <a:pPr algn="l"/>
                      <a:r>
                        <a:rPr sz="1300" b="1" i="0">
                          <a:solidFill>
                            <a:srgbClr val="0F172A"/>
                          </a:solidFill>
                          <a:latin typeface="Inter"/>
                        </a:rPr>
                        <a:t>Exact value</a:t>
                      </a:r>
                    </a:p>
                  </a:txBody>
                  <a:tcPr>
                    <a:solidFill>
                      <a:srgbClr val="FFFFFF"/>
                    </a:solidFill>
                  </a:tcPr>
                </a:tc>
                <a:tc>
                  <a:txBody>
                    <a:bodyPr wrap="square"/>
                    <a:lstStyle/>
                    <a:p>
                      <a:pPr algn="l"/>
                      <a:r>
                        <a:rPr sz="1200" b="0" i="1">
                          <a:solidFill>
                            <a:srgbClr val="64748B"/>
                          </a:solidFill>
                          <a:latin typeface="Inter"/>
                        </a:rPr>
                        <a:t>"What's the coverage ratio?"</a:t>
                      </a:r>
                    </a:p>
                  </a:txBody>
                  <a:tcPr>
                    <a:solidFill>
                      <a:srgbClr val="FFFFFF"/>
                    </a:solidFill>
                  </a:tcPr>
                </a:tc>
                <a:tc>
                  <a:txBody>
                    <a:bodyPr wrap="square"/>
                    <a:lstStyle/>
                    <a:p>
                      <a:pPr algn="l"/>
                      <a:r>
                        <a:rPr sz="1300" b="1" i="0">
                          <a:solidFill>
                            <a:srgbClr val="2563EB"/>
                          </a:solidFill>
                          <a:latin typeface="Inter"/>
                        </a:rPr>
                        <a:t>SQL  (via Text-to-SQL)</a:t>
                      </a:r>
                    </a:p>
                  </a:txBody>
                  <a:tcPr>
                    <a:solidFill>
                      <a:srgbClr val="FFFFFF"/>
                    </a:solidFill>
                  </a:tcPr>
                </a:tc>
              </a:tr>
            </a:tbl>
          </a:graphicData>
        </a:graphic>
      </p:graphicFrame>
      <p:sp>
        <p:nvSpPr>
          <p:cNvPr id="6" name="TextBox 5"/>
          <p:cNvSpPr txBox="1"/>
          <p:nvPr/>
        </p:nvSpPr>
        <p:spPr>
          <a:xfrm>
            <a:off x="685800" y="5148072"/>
            <a:ext cx="10820095" cy="594360"/>
          </a:xfrm>
          <a:prstGeom prst="rect">
            <a:avLst/>
          </a:prstGeom>
          <a:noFill/>
        </p:spPr>
        <p:txBody>
          <a:bodyPr wrap="square">
            <a:spAutoFit/>
          </a:bodyPr>
          <a:lstStyle/>
          <a:p>
            <a:pPr algn="ctr"/>
            <a:r>
              <a:rPr sz="1800" b="0" i="1">
                <a:solidFill>
                  <a:srgbClr val="0F172A"/>
                </a:solidFill>
                <a:latin typeface="Inter"/>
              </a:rPr>
              <a:t>A number with legal weight should be retrieved exactly, not approximated.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10820095" cy="566928"/>
          </a:xfrm>
          <a:prstGeom prst="rect">
            <a:avLst/>
          </a:prstGeom>
          <a:noFill/>
        </p:spPr>
        <p:txBody>
          <a:bodyPr wrap="square">
            <a:spAutoFit/>
          </a:bodyPr>
          <a:lstStyle/>
          <a:p>
            <a:pPr algn="l"/>
            <a:r>
              <a:rPr sz="2600" b="1" i="0">
                <a:solidFill>
                  <a:srgbClr val="0F172A"/>
                </a:solidFill>
                <a:latin typeface="Inter"/>
              </a:rPr>
              <a:t>Query</a:t>
            </a:r>
          </a:p>
        </p:txBody>
      </p:sp>
      <p:sp>
        <p:nvSpPr>
          <p:cNvPr id="3" name="TextBox 2"/>
          <p:cNvSpPr txBox="1"/>
          <p:nvPr/>
        </p:nvSpPr>
        <p:spPr>
          <a:xfrm>
            <a:off x="685800" y="1069848"/>
            <a:ext cx="10820095" cy="347472"/>
          </a:xfrm>
          <a:prstGeom prst="rect">
            <a:avLst/>
          </a:prstGeom>
          <a:noFill/>
        </p:spPr>
        <p:txBody>
          <a:bodyPr wrap="square">
            <a:spAutoFit/>
          </a:bodyPr>
          <a:lstStyle/>
          <a:p>
            <a:pPr algn="l"/>
            <a:r>
              <a:rPr sz="1400" b="0" i="1">
                <a:solidFill>
                  <a:srgbClr val="64748B"/>
                </a:solidFill>
                <a:latin typeface="Inter"/>
              </a:rPr>
              <a:t>Trust isn't assumed — it's engineered.</a:t>
            </a:r>
          </a:p>
        </p:txBody>
      </p:sp>
      <p:sp>
        <p:nvSpPr>
          <p:cNvPr id="4" name="Rectangle 3"/>
          <p:cNvSpPr/>
          <p:nvPr/>
        </p:nvSpPr>
        <p:spPr>
          <a:xfrm>
            <a:off x="685800" y="1453896"/>
            <a:ext cx="10820095" cy="1905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1627632"/>
            <a:ext cx="10820095" cy="4087368"/>
          </a:xfrm>
          <a:prstGeom prst="rect">
            <a:avLst/>
          </a:prstGeom>
          <a:solidFill>
            <a:srgbClr val="DBEAFE"/>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i="1">
                <a:solidFill>
                  <a:srgbClr val="2563EB"/>
                </a:solidFill>
                <a:latin typeface="Inter"/>
              </a:rPr>
              <a:t>[ RAG deep-dive diagram ]
Hybrid retrieval (vector + BM25) → RBAC filter → Rerank
→ Cite-or-refuse generation → Citation verification (judge model)</a:t>
            </a:r>
          </a:p>
        </p:txBody>
      </p:sp>
      <p:sp>
        <p:nvSpPr>
          <p:cNvPr id="6" name="TextBox 5"/>
          <p:cNvSpPr txBox="1"/>
          <p:nvPr/>
        </p:nvSpPr>
        <p:spPr>
          <a:xfrm>
            <a:off x="685800" y="5989320"/>
            <a:ext cx="10820095" cy="685800"/>
          </a:xfrm>
          <a:prstGeom prst="rect">
            <a:avLst/>
          </a:prstGeom>
          <a:noFill/>
        </p:spPr>
        <p:txBody>
          <a:bodyPr wrap="square">
            <a:spAutoFit/>
          </a:bodyPr>
          <a:lstStyle/>
          <a:p>
            <a:pPr algn="l"/>
            <a:r>
              <a:rPr sz="1100" b="0" i="1">
                <a:solidFill>
                  <a:srgbClr val="64748B"/>
                </a:solidFill>
                <a:latin typeface="Inter"/>
              </a:rPr>
              <a:t>1. Grounded retrieval.  2. Cite-or-refuse generation.  3. Citation verification.  The LLM proposes, the code enforces.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10820095" cy="566928"/>
          </a:xfrm>
          <a:prstGeom prst="rect">
            <a:avLst/>
          </a:prstGeom>
          <a:noFill/>
        </p:spPr>
        <p:txBody>
          <a:bodyPr wrap="square">
            <a:spAutoFit/>
          </a:bodyPr>
          <a:lstStyle/>
          <a:p>
            <a:pPr algn="l"/>
            <a:r>
              <a:rPr sz="2600" b="1" i="0">
                <a:solidFill>
                  <a:srgbClr val="0F172A"/>
                </a:solidFill>
                <a:latin typeface="Inter"/>
              </a:rPr>
              <a:t>Jargon is the actual problem.</a:t>
            </a:r>
          </a:p>
        </p:txBody>
      </p:sp>
      <p:sp>
        <p:nvSpPr>
          <p:cNvPr id="3" name="TextBox 2"/>
          <p:cNvSpPr txBox="1"/>
          <p:nvPr/>
        </p:nvSpPr>
        <p:spPr>
          <a:xfrm>
            <a:off x="685800" y="1069848"/>
            <a:ext cx="10820095" cy="347472"/>
          </a:xfrm>
          <a:prstGeom prst="rect">
            <a:avLst/>
          </a:prstGeom>
          <a:noFill/>
        </p:spPr>
        <p:txBody>
          <a:bodyPr wrap="square">
            <a:spAutoFit/>
          </a:bodyPr>
          <a:lstStyle/>
          <a:p>
            <a:pPr algn="l"/>
            <a:r>
              <a:rPr sz="1400" b="0" i="1">
                <a:solidFill>
                  <a:srgbClr val="64748B"/>
                </a:solidFill>
                <a:latin typeface="Inter"/>
              </a:rPr>
              <a:t>The assignment isn't 'build RAG'</a:t>
            </a:r>
          </a:p>
        </p:txBody>
      </p:sp>
      <p:sp>
        <p:nvSpPr>
          <p:cNvPr id="4" name="Rectangle 3"/>
          <p:cNvSpPr/>
          <p:nvPr/>
        </p:nvSpPr>
        <p:spPr>
          <a:xfrm>
            <a:off x="685800" y="1453896"/>
            <a:ext cx="10820095" cy="1905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719072"/>
            <a:ext cx="5951052" cy="2560320"/>
          </a:xfrm>
          <a:prstGeom prst="rect">
            <a:avLst/>
          </a:prstGeom>
          <a:noFill/>
        </p:spPr>
        <p:txBody>
          <a:bodyPr wrap="square">
            <a:spAutoFit/>
          </a:bodyPr>
          <a:lstStyle/>
          <a:p>
            <a:pPr algn="l">
              <a:spcBef>
                <a:spcPts val="0"/>
              </a:spcBef>
              <a:spcAft>
                <a:spcPts val="400"/>
              </a:spcAft>
            </a:pPr>
            <a:r>
              <a:rPr b="1" sz="1500">
                <a:solidFill>
                  <a:srgbClr val="0F172A"/>
                </a:solidFill>
                <a:latin typeface="Inter"/>
              </a:rPr>
              <a:t>• Many names → one concept</a:t>
            </a:r>
            <a:r>
              <a:rPr b="0" sz="1300">
                <a:solidFill>
                  <a:srgbClr val="64748B"/>
                </a:solidFill>
                <a:latin typeface="Inter"/>
              </a:rPr>
              <a:t>  MI = myocardial infarction = heart attack</a:t>
            </a:r>
          </a:p>
          <a:p>
            <a:pPr algn="l">
              <a:spcBef>
                <a:spcPts val="1800"/>
              </a:spcBef>
              <a:spcAft>
                <a:spcPts val="400"/>
              </a:spcAft>
            </a:pPr>
            <a:r>
              <a:rPr b="1" sz="1500">
                <a:solidFill>
                  <a:srgbClr val="0F172A"/>
                </a:solidFill>
                <a:latin typeface="Inter"/>
              </a:rPr>
              <a:t>• Same name → many concepts</a:t>
            </a:r>
            <a:r>
              <a:rPr b="0" sz="1300">
                <a:solidFill>
                  <a:srgbClr val="64748B"/>
                </a:solidFill>
                <a:latin typeface="Inter"/>
              </a:rPr>
              <a:t>  MS = Morgan Stanley / Multiple Sclerosis / Mitral Stenosis</a:t>
            </a:r>
          </a:p>
          <a:p>
            <a:pPr algn="l">
              <a:spcBef>
                <a:spcPts val="1800"/>
              </a:spcBef>
              <a:spcAft>
                <a:spcPts val="400"/>
              </a:spcAft>
            </a:pPr>
            <a:r>
              <a:rPr b="1" sz="1500">
                <a:solidFill>
                  <a:srgbClr val="0F172A"/>
                </a:solidFill>
                <a:latin typeface="Inter"/>
              </a:rPr>
              <a:t>• General ≠ in-context meaning</a:t>
            </a:r>
            <a:r>
              <a:rPr b="0" sz="1300">
                <a:solidFill>
                  <a:srgbClr val="64748B"/>
                </a:solidFill>
                <a:latin typeface="Inter"/>
              </a:rPr>
              <a:t>  "subordinated" textbook vs. in this specific indenture</a:t>
            </a:r>
          </a:p>
        </p:txBody>
      </p:sp>
      <p:sp>
        <p:nvSpPr>
          <p:cNvPr id="6" name="Rectangle 5"/>
          <p:cNvSpPr/>
          <p:nvPr/>
        </p:nvSpPr>
        <p:spPr>
          <a:xfrm>
            <a:off x="685800" y="4416552"/>
            <a:ext cx="10820095" cy="1417320"/>
          </a:xfrm>
          <a:prstGeom prst="rect">
            <a:avLst/>
          </a:prstGeom>
          <a:solidFill>
            <a:srgbClr val="F1F5F9"/>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553712"/>
            <a:ext cx="10362895" cy="365760"/>
          </a:xfrm>
          <a:prstGeom prst="rect">
            <a:avLst/>
          </a:prstGeom>
          <a:noFill/>
        </p:spPr>
        <p:txBody>
          <a:bodyPr wrap="square">
            <a:spAutoFit/>
          </a:bodyPr>
          <a:lstStyle/>
          <a:p>
            <a:pPr algn="l"/>
            <a:r>
              <a:rPr sz="1400" b="1" i="0">
                <a:solidFill>
                  <a:srgbClr val="0F172A"/>
                </a:solidFill>
                <a:latin typeface="Inter"/>
              </a:rPr>
              <a:t>Every term explanation is double-grounded:</a:t>
            </a:r>
          </a:p>
        </p:txBody>
      </p:sp>
      <p:sp>
        <p:nvSpPr>
          <p:cNvPr id="8" name="TextBox 7"/>
          <p:cNvSpPr txBox="1"/>
          <p:nvPr/>
        </p:nvSpPr>
        <p:spPr>
          <a:xfrm>
            <a:off x="914400" y="4919472"/>
            <a:ext cx="10362895" cy="685800"/>
          </a:xfrm>
          <a:prstGeom prst="rect">
            <a:avLst/>
          </a:prstGeom>
          <a:noFill/>
        </p:spPr>
        <p:txBody>
          <a:bodyPr wrap="square">
            <a:spAutoFit/>
          </a:bodyPr>
          <a:lstStyle/>
          <a:p>
            <a:pPr algn="l"/>
            <a:r>
              <a:rPr sz="1300" b="0" i="0">
                <a:solidFill>
                  <a:srgbClr val="64748B"/>
                </a:solidFill>
                <a:latin typeface="Inter"/>
              </a:rPr>
              <a:t>General meaning from an authoritative source  (UMLS / SNOMED / financial taxonomies)  ·  In-context meaning from this document with a citation.  When they diverge — the system flags it.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10820095" cy="566928"/>
          </a:xfrm>
          <a:prstGeom prst="rect">
            <a:avLst/>
          </a:prstGeom>
          <a:noFill/>
        </p:spPr>
        <p:txBody>
          <a:bodyPr wrap="square">
            <a:spAutoFit/>
          </a:bodyPr>
          <a:lstStyle/>
          <a:p>
            <a:pPr algn="l"/>
            <a:r>
              <a:rPr sz="2600" b="1" i="0">
                <a:solidFill>
                  <a:srgbClr val="0F172A"/>
                </a:solidFill>
                <a:latin typeface="Inter"/>
              </a:rPr>
              <a:t>Evaluation</a:t>
            </a:r>
          </a:p>
        </p:txBody>
      </p:sp>
      <p:sp>
        <p:nvSpPr>
          <p:cNvPr id="3" name="TextBox 2"/>
          <p:cNvSpPr txBox="1"/>
          <p:nvPr/>
        </p:nvSpPr>
        <p:spPr>
          <a:xfrm>
            <a:off x="685800" y="1069848"/>
            <a:ext cx="10820095" cy="347472"/>
          </a:xfrm>
          <a:prstGeom prst="rect">
            <a:avLst/>
          </a:prstGeom>
          <a:noFill/>
        </p:spPr>
        <p:txBody>
          <a:bodyPr wrap="square">
            <a:spAutoFit/>
          </a:bodyPr>
          <a:lstStyle/>
          <a:p>
            <a:pPr algn="l"/>
            <a:r>
              <a:rPr sz="1400" b="0" i="1">
                <a:solidFill>
                  <a:srgbClr val="64748B"/>
                </a:solidFill>
                <a:latin typeface="Inter"/>
              </a:rPr>
              <a:t>Accuracy. Bias. Relevance.</a:t>
            </a:r>
          </a:p>
        </p:txBody>
      </p:sp>
      <p:sp>
        <p:nvSpPr>
          <p:cNvPr id="4" name="Rectangle 3"/>
          <p:cNvSpPr/>
          <p:nvPr/>
        </p:nvSpPr>
        <p:spPr>
          <a:xfrm>
            <a:off x="685800" y="1453896"/>
            <a:ext cx="10820095" cy="1905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1627632"/>
            <a:ext cx="10820095" cy="4041648"/>
          </a:xfrm>
          <a:prstGeom prst="rect">
            <a:avLst/>
          </a:prstGeom>
          <a:solidFill>
            <a:srgbClr val="DBEAFE"/>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i="1">
                <a:solidFill>
                  <a:srgbClr val="2563EB"/>
                </a:solidFill>
                <a:latin typeface="Inter"/>
              </a:rPr>
              <a:t>[ Eval diagram ]
Offline: expert golden set → regression suite → CI gate before deploy
Online: live signals (edit-rate, 👍/👎, citation-click rate)</a:t>
            </a:r>
          </a:p>
        </p:txBody>
      </p:sp>
      <p:sp>
        <p:nvSpPr>
          <p:cNvPr id="6" name="TextBox 5"/>
          <p:cNvSpPr txBox="1"/>
          <p:nvPr/>
        </p:nvSpPr>
        <p:spPr>
          <a:xfrm>
            <a:off x="685800" y="5989320"/>
            <a:ext cx="10820095" cy="685800"/>
          </a:xfrm>
          <a:prstGeom prst="rect">
            <a:avLst/>
          </a:prstGeom>
          <a:noFill/>
        </p:spPr>
        <p:txBody>
          <a:bodyPr wrap="square">
            <a:spAutoFit/>
          </a:bodyPr>
          <a:lstStyle/>
          <a:p>
            <a:pPr algn="l"/>
            <a:r>
              <a:rPr sz="1100" b="0" i="1">
                <a:solidFill>
                  <a:srgbClr val="64748B"/>
                </a:solidFill>
                <a:latin typeface="Inter"/>
              </a:rPr>
              <a:t>Offline = regression net + CI gate before deploy.  Online = live signals.  Edit-rate is the trust signal — it should fall over time.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10820095" cy="566928"/>
          </a:xfrm>
          <a:prstGeom prst="rect">
            <a:avLst/>
          </a:prstGeom>
          <a:noFill/>
        </p:spPr>
        <p:txBody>
          <a:bodyPr wrap="square">
            <a:spAutoFit/>
          </a:bodyPr>
          <a:lstStyle/>
          <a:p>
            <a:pPr algn="l"/>
            <a:r>
              <a:rPr sz="2600" b="1" i="0">
                <a:solidFill>
                  <a:srgbClr val="0F172A"/>
                </a:solidFill>
                <a:latin typeface="Inter"/>
              </a:rPr>
              <a:t>Tooling stack</a:t>
            </a:r>
          </a:p>
        </p:txBody>
      </p:sp>
      <p:sp>
        <p:nvSpPr>
          <p:cNvPr id="3" name="TextBox 2"/>
          <p:cNvSpPr txBox="1"/>
          <p:nvPr/>
        </p:nvSpPr>
        <p:spPr>
          <a:xfrm>
            <a:off x="685800" y="1069848"/>
            <a:ext cx="10820095" cy="347472"/>
          </a:xfrm>
          <a:prstGeom prst="rect">
            <a:avLst/>
          </a:prstGeom>
          <a:noFill/>
        </p:spPr>
        <p:txBody>
          <a:bodyPr wrap="square">
            <a:spAutoFit/>
          </a:bodyPr>
          <a:lstStyle/>
          <a:p>
            <a:pPr algn="l"/>
            <a:r>
              <a:rPr sz="1400" b="0" i="1">
                <a:solidFill>
                  <a:srgbClr val="64748B"/>
                </a:solidFill>
                <a:latin typeface="Inter"/>
              </a:rPr>
              <a:t>Conventional defaults — with one assumption + one tradeoff each.</a:t>
            </a:r>
          </a:p>
        </p:txBody>
      </p:sp>
      <p:sp>
        <p:nvSpPr>
          <p:cNvPr id="4" name="Rectangle 3"/>
          <p:cNvSpPr/>
          <p:nvPr/>
        </p:nvSpPr>
        <p:spPr>
          <a:xfrm>
            <a:off x="685800" y="1453896"/>
            <a:ext cx="10820095" cy="1905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685800" y="1673352"/>
          <a:ext cx="10820094" cy="4498848"/>
        </p:xfrm>
        <a:graphic>
          <a:graphicData uri="http://schemas.openxmlformats.org/drawingml/2006/table">
            <a:tbl>
              <a:tblPr firstRow="1" bandRow="1">
                <a:tableStyleId>{5C22544A-7EE6-4342-B048-85BDC9FD1C3A}</a:tableStyleId>
              </a:tblPr>
              <a:tblGrid>
                <a:gridCol w="1947617"/>
                <a:gridCol w="4328038"/>
                <a:gridCol w="4544439"/>
              </a:tblGrid>
              <a:tr h="408986">
                <a:tc>
                  <a:txBody>
                    <a:bodyPr wrap="square"/>
                    <a:lstStyle/>
                    <a:p>
                      <a:pPr algn="l"/>
                      <a:r>
                        <a:rPr sz="1100" b="1" i="0">
                          <a:solidFill>
                            <a:srgbClr val="FFFFFF"/>
                          </a:solidFill>
                          <a:latin typeface="Inter"/>
                        </a:rPr>
                        <a:t>Layer</a:t>
                      </a:r>
                    </a:p>
                  </a:txBody>
                  <a:tcPr>
                    <a:solidFill>
                      <a:srgbClr val="1D4ED8"/>
                    </a:solidFill>
                  </a:tcPr>
                </a:tc>
                <a:tc>
                  <a:txBody>
                    <a:bodyPr wrap="square"/>
                    <a:lstStyle/>
                    <a:p>
                      <a:pPr algn="l"/>
                      <a:r>
                        <a:rPr sz="1100" b="1" i="0">
                          <a:solidFill>
                            <a:srgbClr val="FFFFFF"/>
                          </a:solidFill>
                          <a:latin typeface="Inter"/>
                        </a:rPr>
                        <a:t>Default choice</a:t>
                      </a:r>
                    </a:p>
                  </a:txBody>
                  <a:tcPr>
                    <a:solidFill>
                      <a:srgbClr val="1D4ED8"/>
                    </a:solidFill>
                  </a:tcPr>
                </a:tc>
                <a:tc>
                  <a:txBody>
                    <a:bodyPr wrap="square"/>
                    <a:lstStyle/>
                    <a:p>
                      <a:pPr algn="l"/>
                      <a:r>
                        <a:rPr sz="1100" b="1" i="0">
                          <a:solidFill>
                            <a:srgbClr val="FFFFFF"/>
                          </a:solidFill>
                          <a:latin typeface="Inter"/>
                        </a:rPr>
                        <a:t>Assumption / tradeoff</a:t>
                      </a:r>
                    </a:p>
                  </a:txBody>
                  <a:tcPr>
                    <a:solidFill>
                      <a:srgbClr val="1D4ED8"/>
                    </a:solidFill>
                  </a:tcPr>
                </a:tc>
              </a:tr>
              <a:tr h="408986">
                <a:tc>
                  <a:txBody>
                    <a:bodyPr wrap="square"/>
                    <a:lstStyle/>
                    <a:p>
                      <a:pPr algn="l"/>
                      <a:r>
                        <a:rPr sz="1000" b="1" i="0">
                          <a:solidFill>
                            <a:srgbClr val="2563EB"/>
                          </a:solidFill>
                          <a:latin typeface="Inter"/>
                        </a:rPr>
                        <a:t>Doc parsing</a:t>
                      </a:r>
                    </a:p>
                  </a:txBody>
                  <a:tcPr>
                    <a:solidFill>
                      <a:srgbClr val="FFFFFF"/>
                    </a:solidFill>
                  </a:tcPr>
                </a:tc>
                <a:tc>
                  <a:txBody>
                    <a:bodyPr wrap="square"/>
                    <a:lstStyle/>
                    <a:p>
                      <a:pPr algn="l"/>
                      <a:r>
                        <a:rPr sz="1000" b="0" i="0">
                          <a:solidFill>
                            <a:srgbClr val="0F172A"/>
                          </a:solidFill>
                          <a:latin typeface="Inter"/>
                        </a:rPr>
                        <a:t>PyMuPDF / pdfplumber (digital), vision-model OCR (scans)</a:t>
                      </a:r>
                    </a:p>
                  </a:txBody>
                  <a:tcPr>
                    <a:solidFill>
                      <a:srgbClr val="FFFFFF"/>
                    </a:solidFill>
                  </a:tcPr>
                </a:tc>
                <a:tc>
                  <a:txBody>
                    <a:bodyPr wrap="square"/>
                    <a:lstStyle/>
                    <a:p>
                      <a:pPr algn="l"/>
                      <a:r>
                        <a:rPr sz="1000" b="0" i="1">
                          <a:solidFill>
                            <a:srgbClr val="64748B"/>
                          </a:solidFill>
                          <a:latin typeface="Inter"/>
                        </a:rPr>
                        <a:t>Cheap-then-strong ladder. Tradeoff: latency on bad scans.</a:t>
                      </a:r>
                    </a:p>
                  </a:txBody>
                  <a:tcPr>
                    <a:solidFill>
                      <a:srgbClr val="FFFFFF"/>
                    </a:solidFill>
                  </a:tcPr>
                </a:tc>
              </a:tr>
              <a:tr h="408986">
                <a:tc>
                  <a:txBody>
                    <a:bodyPr wrap="square"/>
                    <a:lstStyle/>
                    <a:p>
                      <a:pPr algn="l"/>
                      <a:r>
                        <a:rPr sz="1000" b="1" i="0">
                          <a:solidFill>
                            <a:srgbClr val="2563EB"/>
                          </a:solidFill>
                          <a:latin typeface="Inter"/>
                        </a:rPr>
                        <a:t>Vector DB</a:t>
                      </a:r>
                    </a:p>
                  </a:txBody>
                  <a:tcPr>
                    <a:solidFill>
                      <a:srgbClr val="F1F5F9"/>
                    </a:solidFill>
                  </a:tcPr>
                </a:tc>
                <a:tc>
                  <a:txBody>
                    <a:bodyPr wrap="square"/>
                    <a:lstStyle/>
                    <a:p>
                      <a:pPr algn="l"/>
                      <a:r>
                        <a:rPr sz="1000" b="0" i="0">
                          <a:solidFill>
                            <a:srgbClr val="0F172A"/>
                          </a:solidFill>
                          <a:latin typeface="Inter"/>
                        </a:rPr>
                        <a:t>pgvector (MVP) → Qdrant / Milvus (scale / on-prem)</a:t>
                      </a:r>
                    </a:p>
                  </a:txBody>
                  <a:tcPr>
                    <a:solidFill>
                      <a:srgbClr val="F1F5F9"/>
                    </a:solidFill>
                  </a:tcPr>
                </a:tc>
                <a:tc>
                  <a:txBody>
                    <a:bodyPr wrap="square"/>
                    <a:lstStyle/>
                    <a:p>
                      <a:pPr algn="l"/>
                      <a:r>
                        <a:rPr sz="1000" b="0" i="1">
                          <a:solidFill>
                            <a:srgbClr val="64748B"/>
                          </a:solidFill>
                          <a:latin typeface="Inter"/>
                        </a:rPr>
                        <a:t>Postgres-native at start. Tradeoff: scale limits ~10M chunks.</a:t>
                      </a:r>
                    </a:p>
                  </a:txBody>
                  <a:tcPr>
                    <a:solidFill>
                      <a:srgbClr val="F1F5F9"/>
                    </a:solidFill>
                  </a:tcPr>
                </a:tc>
              </a:tr>
              <a:tr h="408986">
                <a:tc>
                  <a:txBody>
                    <a:bodyPr wrap="square"/>
                    <a:lstStyle/>
                    <a:p>
                      <a:pPr algn="l"/>
                      <a:r>
                        <a:rPr sz="1000" b="1" i="0">
                          <a:solidFill>
                            <a:srgbClr val="2563EB"/>
                          </a:solidFill>
                          <a:latin typeface="Inter"/>
                        </a:rPr>
                        <a:t>Hybrid retrieval</a:t>
                      </a:r>
                    </a:p>
                  </a:txBody>
                  <a:tcPr>
                    <a:solidFill>
                      <a:srgbClr val="FFFFFF"/>
                    </a:solidFill>
                  </a:tcPr>
                </a:tc>
                <a:tc>
                  <a:txBody>
                    <a:bodyPr wrap="square"/>
                    <a:lstStyle/>
                    <a:p>
                      <a:pPr algn="l"/>
                      <a:r>
                        <a:rPr sz="1000" b="0" i="0">
                          <a:solidFill>
                            <a:srgbClr val="0F172A"/>
                          </a:solidFill>
                          <a:latin typeface="Inter"/>
                        </a:rPr>
                        <a:t>Vector + BM25 (OpenSearch or built-in)</a:t>
                      </a:r>
                    </a:p>
                  </a:txBody>
                  <a:tcPr>
                    <a:solidFill>
                      <a:srgbClr val="FFFFFF"/>
                    </a:solidFill>
                  </a:tcPr>
                </a:tc>
                <a:tc>
                  <a:txBody>
                    <a:bodyPr wrap="square"/>
                    <a:lstStyle/>
                    <a:p>
                      <a:pPr algn="l"/>
                      <a:r>
                        <a:rPr sz="1000" b="0" i="1">
                          <a:solidFill>
                            <a:srgbClr val="64748B"/>
                          </a:solidFill>
                          <a:latin typeface="Inter"/>
                        </a:rPr>
                        <a:t>Catches exact strings vectors blur. Tradeoff: index size doubles.</a:t>
                      </a:r>
                    </a:p>
                  </a:txBody>
                  <a:tcPr>
                    <a:solidFill>
                      <a:srgbClr val="FFFFFF"/>
                    </a:solidFill>
                  </a:tcPr>
                </a:tc>
              </a:tr>
              <a:tr h="408986">
                <a:tc>
                  <a:txBody>
                    <a:bodyPr wrap="square"/>
                    <a:lstStyle/>
                    <a:p>
                      <a:pPr algn="l"/>
                      <a:r>
                        <a:rPr sz="1000" b="1" i="0">
                          <a:solidFill>
                            <a:srgbClr val="2563EB"/>
                          </a:solidFill>
                          <a:latin typeface="Inter"/>
                        </a:rPr>
                        <a:t>Reranker</a:t>
                      </a:r>
                    </a:p>
                  </a:txBody>
                  <a:tcPr>
                    <a:solidFill>
                      <a:srgbClr val="F1F5F9"/>
                    </a:solidFill>
                  </a:tcPr>
                </a:tc>
                <a:tc>
                  <a:txBody>
                    <a:bodyPr wrap="square"/>
                    <a:lstStyle/>
                    <a:p>
                      <a:pPr algn="l"/>
                      <a:r>
                        <a:rPr sz="1000" b="0" i="0">
                          <a:solidFill>
                            <a:srgbClr val="0F172A"/>
                          </a:solidFill>
                          <a:latin typeface="Inter"/>
                        </a:rPr>
                        <a:t>Cohere Rerank 3.5 (hosted) or BGE Reranker (self-host)</a:t>
                      </a:r>
                    </a:p>
                  </a:txBody>
                  <a:tcPr>
                    <a:solidFill>
                      <a:srgbClr val="F1F5F9"/>
                    </a:solidFill>
                  </a:tcPr>
                </a:tc>
                <a:tc>
                  <a:txBody>
                    <a:bodyPr wrap="square"/>
                    <a:lstStyle/>
                    <a:p>
                      <a:pPr algn="l"/>
                      <a:r>
                        <a:rPr sz="1000" b="0" i="1">
                          <a:solidFill>
                            <a:srgbClr val="64748B"/>
                          </a:solidFill>
                          <a:latin typeface="Inter"/>
                        </a:rPr>
                        <a:t>~+33% accuracy, ~+150ms latency. Gated by stakes.</a:t>
                      </a:r>
                    </a:p>
                  </a:txBody>
                  <a:tcPr>
                    <a:solidFill>
                      <a:srgbClr val="F1F5F9"/>
                    </a:solidFill>
                  </a:tcPr>
                </a:tc>
              </a:tr>
              <a:tr h="408986">
                <a:tc>
                  <a:txBody>
                    <a:bodyPr wrap="square"/>
                    <a:lstStyle/>
                    <a:p>
                      <a:pPr algn="l"/>
                      <a:r>
                        <a:rPr sz="1000" b="1" i="0">
                          <a:solidFill>
                            <a:srgbClr val="2563EB"/>
                          </a:solidFill>
                          <a:latin typeface="Inter"/>
                        </a:rPr>
                        <a:t>Embeddings</a:t>
                      </a:r>
                    </a:p>
                  </a:txBody>
                  <a:tcPr>
                    <a:solidFill>
                      <a:srgbClr val="FFFFFF"/>
                    </a:solidFill>
                  </a:tcPr>
                </a:tc>
                <a:tc>
                  <a:txBody>
                    <a:bodyPr wrap="square"/>
                    <a:lstStyle/>
                    <a:p>
                      <a:pPr algn="l"/>
                      <a:r>
                        <a:rPr sz="1000" b="0" i="0">
                          <a:solidFill>
                            <a:srgbClr val="0F172A"/>
                          </a:solidFill>
                          <a:latin typeface="Inter"/>
                        </a:rPr>
                        <a:t>OpenAI text-embedding-3-small (cloud), BGE-M3 (local)</a:t>
                      </a:r>
                    </a:p>
                  </a:txBody>
                  <a:tcPr>
                    <a:solidFill>
                      <a:srgbClr val="FFFFFF"/>
                    </a:solidFill>
                  </a:tcPr>
                </a:tc>
                <a:tc>
                  <a:txBody>
                    <a:bodyPr wrap="square"/>
                    <a:lstStyle/>
                    <a:p>
                      <a:pPr algn="l"/>
                      <a:r>
                        <a:rPr sz="1000" b="0" i="1">
                          <a:solidFill>
                            <a:srgbClr val="64748B"/>
                          </a:solidFill>
                          <a:latin typeface="Inter"/>
                        </a:rPr>
                        <a:t>Local for air-gapped. Tradeoff: BGE slightly weaker on English.</a:t>
                      </a:r>
                    </a:p>
                  </a:txBody>
                  <a:tcPr>
                    <a:solidFill>
                      <a:srgbClr val="FFFFFF"/>
                    </a:solidFill>
                  </a:tcPr>
                </a:tc>
              </a:tr>
              <a:tr h="408986">
                <a:tc>
                  <a:txBody>
                    <a:bodyPr wrap="square"/>
                    <a:lstStyle/>
                    <a:p>
                      <a:pPr algn="l"/>
                      <a:r>
                        <a:rPr sz="1000" b="1" i="0">
                          <a:solidFill>
                            <a:srgbClr val="2563EB"/>
                          </a:solidFill>
                          <a:latin typeface="Inter"/>
                        </a:rPr>
                        <a:t>LLM generation</a:t>
                      </a:r>
                    </a:p>
                  </a:txBody>
                  <a:tcPr>
                    <a:solidFill>
                      <a:srgbClr val="F1F5F9"/>
                    </a:solidFill>
                  </a:tcPr>
                </a:tc>
                <a:tc>
                  <a:txBody>
                    <a:bodyPr wrap="square"/>
                    <a:lstStyle/>
                    <a:p>
                      <a:pPr algn="l"/>
                      <a:r>
                        <a:rPr sz="1000" b="0" i="0">
                          <a:solidFill>
                            <a:srgbClr val="0F172A"/>
                          </a:solidFill>
                          <a:latin typeface="Inter"/>
                        </a:rPr>
                        <a:t>Claude / GPT / Gemini (cloud), Llama / Mistral via vLLM (local)</a:t>
                      </a:r>
                    </a:p>
                  </a:txBody>
                  <a:tcPr>
                    <a:solidFill>
                      <a:srgbClr val="F1F5F9"/>
                    </a:solidFill>
                  </a:tcPr>
                </a:tc>
                <a:tc>
                  <a:txBody>
                    <a:bodyPr wrap="square"/>
                    <a:lstStyle/>
                    <a:p>
                      <a:pPr algn="l"/>
                      <a:r>
                        <a:rPr sz="1000" b="0" i="1">
                          <a:solidFill>
                            <a:srgbClr val="64748B"/>
                          </a:solidFill>
                          <a:latin typeface="Inter"/>
                        </a:rPr>
                        <a:t>Routing per task + sensitivity. Customer compute in air-gap.</a:t>
                      </a:r>
                    </a:p>
                  </a:txBody>
                  <a:tcPr>
                    <a:solidFill>
                      <a:srgbClr val="F1F5F9"/>
                    </a:solidFill>
                  </a:tcPr>
                </a:tc>
              </a:tr>
              <a:tr h="408986">
                <a:tc>
                  <a:txBody>
                    <a:bodyPr wrap="square"/>
                    <a:lstStyle/>
                    <a:p>
                      <a:pPr algn="l"/>
                      <a:r>
                        <a:rPr sz="1000" b="1" i="0">
                          <a:solidFill>
                            <a:srgbClr val="2563EB"/>
                          </a:solidFill>
                          <a:latin typeface="Inter"/>
                        </a:rPr>
                        <a:t>Knowledge graph</a:t>
                      </a:r>
                    </a:p>
                  </a:txBody>
                  <a:tcPr>
                    <a:solidFill>
                      <a:srgbClr val="FFFFFF"/>
                    </a:solidFill>
                  </a:tcPr>
                </a:tc>
                <a:tc>
                  <a:txBody>
                    <a:bodyPr wrap="square"/>
                    <a:lstStyle/>
                    <a:p>
                      <a:pPr algn="l"/>
                      <a:r>
                        <a:rPr sz="1000" b="0" i="0">
                          <a:solidFill>
                            <a:srgbClr val="0F172A"/>
                          </a:solidFill>
                          <a:latin typeface="Inter"/>
                        </a:rPr>
                        <a:t>Neo4j or LightRAG</a:t>
                      </a:r>
                    </a:p>
                  </a:txBody>
                  <a:tcPr>
                    <a:solidFill>
                      <a:srgbClr val="FFFFFF"/>
                    </a:solidFill>
                  </a:tcPr>
                </a:tc>
                <a:tc>
                  <a:txBody>
                    <a:bodyPr wrap="square"/>
                    <a:lstStyle/>
                    <a:p>
                      <a:pPr algn="l"/>
                      <a:r>
                        <a:rPr sz="1000" b="0" i="1">
                          <a:solidFill>
                            <a:srgbClr val="64748B"/>
                          </a:solidFill>
                          <a:latin typeface="Inter"/>
                        </a:rPr>
                        <a:t>Gated: only for large+interconnected corpora. Build cost is real.</a:t>
                      </a:r>
                    </a:p>
                  </a:txBody>
                  <a:tcPr>
                    <a:solidFill>
                      <a:srgbClr val="FFFFFF"/>
                    </a:solidFill>
                  </a:tcPr>
                </a:tc>
              </a:tr>
              <a:tr h="408986">
                <a:tc>
                  <a:txBody>
                    <a:bodyPr wrap="square"/>
                    <a:lstStyle/>
                    <a:p>
                      <a:pPr algn="l"/>
                      <a:r>
                        <a:rPr sz="1000" b="1" i="0">
                          <a:solidFill>
                            <a:srgbClr val="2563EB"/>
                          </a:solidFill>
                          <a:latin typeface="Inter"/>
                        </a:rPr>
                        <a:t>Eval &amp; tracing</a:t>
                      </a:r>
                    </a:p>
                  </a:txBody>
                  <a:tcPr>
                    <a:solidFill>
                      <a:srgbClr val="F1F5F9"/>
                    </a:solidFill>
                  </a:tcPr>
                </a:tc>
                <a:tc>
                  <a:txBody>
                    <a:bodyPr wrap="square"/>
                    <a:lstStyle/>
                    <a:p>
                      <a:pPr algn="l"/>
                      <a:r>
                        <a:rPr sz="1000" b="0" i="0">
                          <a:solidFill>
                            <a:srgbClr val="0F172A"/>
                          </a:solidFill>
                          <a:latin typeface="Inter"/>
                        </a:rPr>
                        <a:t>LangSmith or Arize Phoenix</a:t>
                      </a:r>
                    </a:p>
                  </a:txBody>
                  <a:tcPr>
                    <a:solidFill>
                      <a:srgbClr val="F1F5F9"/>
                    </a:solidFill>
                  </a:tcPr>
                </a:tc>
                <a:tc>
                  <a:txBody>
                    <a:bodyPr wrap="square"/>
                    <a:lstStyle/>
                    <a:p>
                      <a:pPr algn="l"/>
                      <a:r>
                        <a:rPr sz="1000" b="0" i="1">
                          <a:solidFill>
                            <a:srgbClr val="64748B"/>
                          </a:solidFill>
                          <a:latin typeface="Inter"/>
                        </a:rPr>
                        <a:t>Phoenix is framework-agnostic + open-source for on-prem.</a:t>
                      </a:r>
                    </a:p>
                  </a:txBody>
                  <a:tcPr>
                    <a:solidFill>
                      <a:srgbClr val="F1F5F9"/>
                    </a:solidFill>
                  </a:tcPr>
                </a:tc>
              </a:tr>
              <a:tr h="408986">
                <a:tc>
                  <a:txBody>
                    <a:bodyPr wrap="square"/>
                    <a:lstStyle/>
                    <a:p>
                      <a:pPr algn="l"/>
                      <a:r>
                        <a:rPr sz="1000" b="1" i="0">
                          <a:solidFill>
                            <a:srgbClr val="2563EB"/>
                          </a:solidFill>
                          <a:latin typeface="Inter"/>
                        </a:rPr>
                        <a:t>Cache</a:t>
                      </a:r>
                    </a:p>
                  </a:txBody>
                  <a:tcPr>
                    <a:solidFill>
                      <a:srgbClr val="FFFFFF"/>
                    </a:solidFill>
                  </a:tcPr>
                </a:tc>
                <a:tc>
                  <a:txBody>
                    <a:bodyPr wrap="square"/>
                    <a:lstStyle/>
                    <a:p>
                      <a:pPr algn="l"/>
                      <a:r>
                        <a:rPr sz="1000" b="0" i="0">
                          <a:solidFill>
                            <a:srgbClr val="0F172A"/>
                          </a:solidFill>
                          <a:latin typeface="Inter"/>
                        </a:rPr>
                        <a:t>Redis</a:t>
                      </a:r>
                    </a:p>
                  </a:txBody>
                  <a:tcPr>
                    <a:solidFill>
                      <a:srgbClr val="FFFFFF"/>
                    </a:solidFill>
                  </a:tcPr>
                </a:tc>
                <a:tc>
                  <a:txBody>
                    <a:bodyPr wrap="square"/>
                    <a:lstStyle/>
                    <a:p>
                      <a:pPr algn="l"/>
                      <a:r>
                        <a:rPr sz="1000" b="0" i="1">
                          <a:solidFill>
                            <a:srgbClr val="64748B"/>
                          </a:solidFill>
                          <a:latin typeface="Inter"/>
                        </a:rPr>
                        <a:t>4 tiers: query / retrieval / KV / embedding. RBAC-scoped keys.</a:t>
                      </a:r>
                    </a:p>
                  </a:txBody>
                  <a:tcPr>
                    <a:solidFill>
                      <a:srgbClr val="FFFFFF"/>
                    </a:solidFill>
                  </a:tcPr>
                </a:tc>
              </a:tr>
              <a:tr h="408988">
                <a:tc>
                  <a:txBody>
                    <a:bodyPr wrap="square"/>
                    <a:lstStyle/>
                    <a:p>
                      <a:pPr algn="l"/>
                      <a:r>
                        <a:rPr sz="1000" b="1" i="0">
                          <a:solidFill>
                            <a:srgbClr val="2563EB"/>
                          </a:solidFill>
                          <a:latin typeface="Inter"/>
                        </a:rPr>
                        <a:t>Connectors</a:t>
                      </a:r>
                    </a:p>
                  </a:txBody>
                  <a:tcPr>
                    <a:solidFill>
                      <a:srgbClr val="F1F5F9"/>
                    </a:solidFill>
                  </a:tcPr>
                </a:tc>
                <a:tc>
                  <a:txBody>
                    <a:bodyPr wrap="square"/>
                    <a:lstStyle/>
                    <a:p>
                      <a:pPr algn="l"/>
                      <a:r>
                        <a:rPr sz="1000" b="0" i="0">
                          <a:solidFill>
                            <a:srgbClr val="0F172A"/>
                          </a:solidFill>
                          <a:latin typeface="Inter"/>
                        </a:rPr>
                        <a:t>MCP servers + native SharePoint / Confluence / Drive APIs</a:t>
                      </a:r>
                    </a:p>
                  </a:txBody>
                  <a:tcPr>
                    <a:solidFill>
                      <a:srgbClr val="F1F5F9"/>
                    </a:solidFill>
                  </a:tcPr>
                </a:tc>
                <a:tc>
                  <a:txBody>
                    <a:bodyPr wrap="square"/>
                    <a:lstStyle/>
                    <a:p>
                      <a:pPr algn="l"/>
                      <a:r>
                        <a:rPr sz="1000" b="0" i="1">
                          <a:solidFill>
                            <a:srgbClr val="64748B"/>
                          </a:solidFill>
                          <a:latin typeface="Inter"/>
                        </a:rPr>
                        <a:t>Standardizes integration. Tradeoff: ecosystem still maturing.</a:t>
                      </a:r>
                    </a:p>
                  </a:txBody>
                  <a:tcPr>
                    <a:solidFill>
                      <a:srgbClr val="F1F5F9"/>
                    </a:solidFill>
                  </a:tcPr>
                </a:tc>
              </a:tr>
            </a:tbl>
          </a:graphicData>
        </a:graphic>
      </p:graphicFrame>
      <p:sp>
        <p:nvSpPr>
          <p:cNvPr id="6" name="TextBox 5"/>
          <p:cNvSpPr txBox="1"/>
          <p:nvPr/>
        </p:nvSpPr>
        <p:spPr>
          <a:xfrm>
            <a:off x="685800" y="6263640"/>
            <a:ext cx="10820095" cy="411480"/>
          </a:xfrm>
          <a:prstGeom prst="rect">
            <a:avLst/>
          </a:prstGeom>
          <a:noFill/>
        </p:spPr>
        <p:txBody>
          <a:bodyPr wrap="square">
            <a:spAutoFit/>
          </a:bodyPr>
          <a:lstStyle/>
          <a:p>
            <a:pPr algn="l"/>
            <a:r>
              <a:rPr sz="1100" b="0" i="1">
                <a:solidFill>
                  <a:srgbClr val="64748B"/>
                </a:solidFill>
                <a:latin typeface="Inter"/>
              </a:rPr>
              <a:t>Final picks settle with R&amp;D against the customer's existing stack.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10820095" cy="566928"/>
          </a:xfrm>
          <a:prstGeom prst="rect">
            <a:avLst/>
          </a:prstGeom>
          <a:noFill/>
        </p:spPr>
        <p:txBody>
          <a:bodyPr wrap="square">
            <a:spAutoFit/>
          </a:bodyPr>
          <a:lstStyle/>
          <a:p>
            <a:pPr algn="l"/>
            <a:r>
              <a:rPr sz="2600" b="1" i="0">
                <a:solidFill>
                  <a:srgbClr val="0F172A"/>
                </a:solidFill>
                <a:latin typeface="Inter"/>
              </a:rPr>
              <a:t>Governance — every layer</a:t>
            </a:r>
          </a:p>
        </p:txBody>
      </p:sp>
      <p:sp>
        <p:nvSpPr>
          <p:cNvPr id="3" name="TextBox 2"/>
          <p:cNvSpPr txBox="1"/>
          <p:nvPr/>
        </p:nvSpPr>
        <p:spPr>
          <a:xfrm>
            <a:off x="685800" y="1069848"/>
            <a:ext cx="10820095" cy="347472"/>
          </a:xfrm>
          <a:prstGeom prst="rect">
            <a:avLst/>
          </a:prstGeom>
          <a:noFill/>
        </p:spPr>
        <p:txBody>
          <a:bodyPr wrap="square">
            <a:spAutoFit/>
          </a:bodyPr>
          <a:lstStyle/>
          <a:p>
            <a:pPr algn="l"/>
            <a:r>
              <a:rPr sz="1400" b="0" i="1">
                <a:solidFill>
                  <a:srgbClr val="64748B"/>
                </a:solidFill>
                <a:latin typeface="Inter"/>
              </a:rPr>
              <a:t>Same architecture. Different walls.</a:t>
            </a:r>
          </a:p>
        </p:txBody>
      </p:sp>
      <p:sp>
        <p:nvSpPr>
          <p:cNvPr id="4" name="Rectangle 3"/>
          <p:cNvSpPr/>
          <p:nvPr/>
        </p:nvSpPr>
        <p:spPr>
          <a:xfrm>
            <a:off x="685800" y="1453896"/>
            <a:ext cx="10820095" cy="1905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1764792"/>
            <a:ext cx="2602153" cy="1463040"/>
          </a:xfrm>
          <a:prstGeom prst="rect">
            <a:avLst/>
          </a:prstGeom>
          <a:solidFill>
            <a:srgbClr val="F1F5F9"/>
          </a:solidFill>
          <a:ln w="9525">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901952"/>
            <a:ext cx="2327833" cy="365760"/>
          </a:xfrm>
          <a:prstGeom prst="rect">
            <a:avLst/>
          </a:prstGeom>
          <a:noFill/>
        </p:spPr>
        <p:txBody>
          <a:bodyPr wrap="square">
            <a:spAutoFit/>
          </a:bodyPr>
          <a:lstStyle/>
          <a:p>
            <a:pPr algn="l"/>
            <a:r>
              <a:rPr sz="1300" b="1" i="0">
                <a:solidFill>
                  <a:srgbClr val="2563EB"/>
                </a:solidFill>
                <a:latin typeface="Inter"/>
              </a:rPr>
              <a:t>Cloud</a:t>
            </a:r>
          </a:p>
        </p:txBody>
      </p:sp>
      <p:sp>
        <p:nvSpPr>
          <p:cNvPr id="7" name="TextBox 6"/>
          <p:cNvSpPr txBox="1"/>
          <p:nvPr/>
        </p:nvSpPr>
        <p:spPr>
          <a:xfrm>
            <a:off x="822960" y="2295144"/>
            <a:ext cx="2327833" cy="777240"/>
          </a:xfrm>
          <a:prstGeom prst="rect">
            <a:avLst/>
          </a:prstGeom>
          <a:noFill/>
        </p:spPr>
        <p:txBody>
          <a:bodyPr wrap="square">
            <a:spAutoFit/>
          </a:bodyPr>
          <a:lstStyle/>
          <a:p>
            <a:pPr algn="l"/>
            <a:r>
              <a:rPr sz="1100" b="0" i="0">
                <a:solidFill>
                  <a:srgbClr val="0F172A"/>
                </a:solidFill>
                <a:latin typeface="Inter"/>
              </a:rPr>
              <a:t>Egress allowed. Routing optimizes for cost &amp; latency.</a:t>
            </a:r>
          </a:p>
        </p:txBody>
      </p:sp>
      <p:sp>
        <p:nvSpPr>
          <p:cNvPr id="8" name="Rectangle 7"/>
          <p:cNvSpPr/>
          <p:nvPr/>
        </p:nvSpPr>
        <p:spPr>
          <a:xfrm>
            <a:off x="3425113" y="1764792"/>
            <a:ext cx="2602153" cy="1463040"/>
          </a:xfrm>
          <a:prstGeom prst="rect">
            <a:avLst/>
          </a:prstGeom>
          <a:solidFill>
            <a:srgbClr val="F1F5F9"/>
          </a:solidFill>
          <a:ln w="9525">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562273" y="1901952"/>
            <a:ext cx="2327833" cy="365760"/>
          </a:xfrm>
          <a:prstGeom prst="rect">
            <a:avLst/>
          </a:prstGeom>
          <a:noFill/>
        </p:spPr>
        <p:txBody>
          <a:bodyPr wrap="square">
            <a:spAutoFit/>
          </a:bodyPr>
          <a:lstStyle/>
          <a:p>
            <a:pPr algn="l"/>
            <a:r>
              <a:rPr sz="1300" b="1" i="0">
                <a:solidFill>
                  <a:srgbClr val="2563EB"/>
                </a:solidFill>
                <a:latin typeface="Inter"/>
              </a:rPr>
              <a:t>Private Cloud / On-Prem</a:t>
            </a:r>
          </a:p>
        </p:txBody>
      </p:sp>
      <p:sp>
        <p:nvSpPr>
          <p:cNvPr id="10" name="TextBox 9"/>
          <p:cNvSpPr txBox="1"/>
          <p:nvPr/>
        </p:nvSpPr>
        <p:spPr>
          <a:xfrm>
            <a:off x="3562273" y="2295144"/>
            <a:ext cx="2327833" cy="777240"/>
          </a:xfrm>
          <a:prstGeom prst="rect">
            <a:avLst/>
          </a:prstGeom>
          <a:noFill/>
        </p:spPr>
        <p:txBody>
          <a:bodyPr wrap="square">
            <a:spAutoFit/>
          </a:bodyPr>
          <a:lstStyle/>
          <a:p>
            <a:pPr algn="l"/>
            <a:r>
              <a:rPr sz="1100" b="0" i="0">
                <a:solidFill>
                  <a:srgbClr val="0F172A"/>
                </a:solidFill>
                <a:latin typeface="Inter"/>
              </a:rPr>
              <a:t>Egress controlled. Routing respects data residency.</a:t>
            </a:r>
          </a:p>
        </p:txBody>
      </p:sp>
      <p:sp>
        <p:nvSpPr>
          <p:cNvPr id="11" name="Rectangle 10"/>
          <p:cNvSpPr/>
          <p:nvPr/>
        </p:nvSpPr>
        <p:spPr>
          <a:xfrm>
            <a:off x="6164427" y="1764792"/>
            <a:ext cx="2602153" cy="1463040"/>
          </a:xfrm>
          <a:prstGeom prst="rect">
            <a:avLst/>
          </a:prstGeom>
          <a:solidFill>
            <a:srgbClr val="F1F5F9"/>
          </a:solidFill>
          <a:ln w="9525">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1587" y="1901952"/>
            <a:ext cx="2327833" cy="365760"/>
          </a:xfrm>
          <a:prstGeom prst="rect">
            <a:avLst/>
          </a:prstGeom>
          <a:noFill/>
        </p:spPr>
        <p:txBody>
          <a:bodyPr wrap="square">
            <a:spAutoFit/>
          </a:bodyPr>
          <a:lstStyle/>
          <a:p>
            <a:pPr algn="l"/>
            <a:r>
              <a:rPr sz="1300" b="1" i="0">
                <a:solidFill>
                  <a:srgbClr val="2563EB"/>
                </a:solidFill>
                <a:latin typeface="Inter"/>
              </a:rPr>
              <a:t>Air-Gapped</a:t>
            </a:r>
          </a:p>
        </p:txBody>
      </p:sp>
      <p:sp>
        <p:nvSpPr>
          <p:cNvPr id="13" name="TextBox 12"/>
          <p:cNvSpPr txBox="1"/>
          <p:nvPr/>
        </p:nvSpPr>
        <p:spPr>
          <a:xfrm>
            <a:off x="6301587" y="2295144"/>
            <a:ext cx="2327833" cy="777240"/>
          </a:xfrm>
          <a:prstGeom prst="rect">
            <a:avLst/>
          </a:prstGeom>
          <a:noFill/>
        </p:spPr>
        <p:txBody>
          <a:bodyPr wrap="square">
            <a:spAutoFit/>
          </a:bodyPr>
          <a:lstStyle/>
          <a:p>
            <a:pPr algn="l"/>
            <a:r>
              <a:rPr sz="1100" b="0" i="0">
                <a:solidFill>
                  <a:srgbClr val="0F172A"/>
                </a:solidFill>
                <a:latin typeface="Inter"/>
              </a:rPr>
              <a:t>No egress. Only local models. Customer pays compute.</a:t>
            </a:r>
          </a:p>
        </p:txBody>
      </p:sp>
      <p:sp>
        <p:nvSpPr>
          <p:cNvPr id="14" name="Rectangle 13"/>
          <p:cNvSpPr/>
          <p:nvPr/>
        </p:nvSpPr>
        <p:spPr>
          <a:xfrm>
            <a:off x="8903741" y="1764792"/>
            <a:ext cx="2602153" cy="1463040"/>
          </a:xfrm>
          <a:prstGeom prst="rect">
            <a:avLst/>
          </a:prstGeom>
          <a:solidFill>
            <a:srgbClr val="F1F5F9"/>
          </a:solidFill>
          <a:ln w="9525">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040901" y="1901952"/>
            <a:ext cx="2327833" cy="365760"/>
          </a:xfrm>
          <a:prstGeom prst="rect">
            <a:avLst/>
          </a:prstGeom>
          <a:noFill/>
        </p:spPr>
        <p:txBody>
          <a:bodyPr wrap="square">
            <a:spAutoFit/>
          </a:bodyPr>
          <a:lstStyle/>
          <a:p>
            <a:pPr algn="l"/>
            <a:r>
              <a:rPr sz="1300" b="1" i="0">
                <a:solidFill>
                  <a:srgbClr val="2563EB"/>
                </a:solidFill>
                <a:latin typeface="Inter"/>
              </a:rPr>
              <a:t>Hybrid</a:t>
            </a:r>
          </a:p>
        </p:txBody>
      </p:sp>
      <p:sp>
        <p:nvSpPr>
          <p:cNvPr id="16" name="TextBox 15"/>
          <p:cNvSpPr txBox="1"/>
          <p:nvPr/>
        </p:nvSpPr>
        <p:spPr>
          <a:xfrm>
            <a:off x="9040901" y="2295144"/>
            <a:ext cx="2327833" cy="777240"/>
          </a:xfrm>
          <a:prstGeom prst="rect">
            <a:avLst/>
          </a:prstGeom>
          <a:noFill/>
        </p:spPr>
        <p:txBody>
          <a:bodyPr wrap="square">
            <a:spAutoFit/>
          </a:bodyPr>
          <a:lstStyle/>
          <a:p>
            <a:pPr algn="l"/>
            <a:r>
              <a:rPr sz="1100" b="0" i="0">
                <a:solidFill>
                  <a:srgbClr val="0F172A"/>
                </a:solidFill>
                <a:latin typeface="Inter"/>
              </a:rPr>
              <a:t>Sensitive routes local. Everything else routes cloud.</a:t>
            </a:r>
          </a:p>
        </p:txBody>
      </p:sp>
      <p:sp>
        <p:nvSpPr>
          <p:cNvPr id="17" name="TextBox 16"/>
          <p:cNvSpPr txBox="1"/>
          <p:nvPr/>
        </p:nvSpPr>
        <p:spPr>
          <a:xfrm>
            <a:off x="685800" y="3502152"/>
            <a:ext cx="10820095" cy="2560320"/>
          </a:xfrm>
          <a:prstGeom prst="rect">
            <a:avLst/>
          </a:prstGeom>
          <a:noFill/>
        </p:spPr>
        <p:txBody>
          <a:bodyPr wrap="square">
            <a:spAutoFit/>
          </a:bodyPr>
          <a:lstStyle/>
          <a:p>
            <a:pPr algn="l">
              <a:spcBef>
                <a:spcPts val="0"/>
              </a:spcBef>
              <a:spcAft>
                <a:spcPts val="400"/>
              </a:spcAft>
            </a:pPr>
            <a:r>
              <a:rPr b="1" sz="1400">
                <a:solidFill>
                  <a:srgbClr val="0F172A"/>
                </a:solidFill>
                <a:latin typeface="Inter"/>
              </a:rPr>
              <a:t>• RBAC mapped to the org tree</a:t>
            </a:r>
            <a:r>
              <a:rPr b="0" sz="1200">
                <a:solidFill>
                  <a:srgbClr val="64748B"/>
                </a:solidFill>
                <a:latin typeface="Inter"/>
              </a:rPr>
              <a:t>  dept → team → role, IdP-synced</a:t>
            </a:r>
          </a:p>
          <a:p>
            <a:pPr algn="l">
              <a:spcBef>
                <a:spcPts val="1400"/>
              </a:spcBef>
              <a:spcAft>
                <a:spcPts val="400"/>
              </a:spcAft>
            </a:pPr>
            <a:r>
              <a:rPr b="1" sz="1400">
                <a:solidFill>
                  <a:srgbClr val="0F172A"/>
                </a:solidFill>
                <a:latin typeface="Inter"/>
              </a:rPr>
              <a:t>• Enforced before retrieval</a:t>
            </a:r>
            <a:r>
              <a:rPr b="0" sz="1200">
                <a:solidFill>
                  <a:srgbClr val="64748B"/>
                </a:solidFill>
                <a:latin typeface="Inter"/>
              </a:rPr>
              <a:t>  filter the search space — and after (defense in depth)</a:t>
            </a:r>
          </a:p>
          <a:p>
            <a:pPr algn="l">
              <a:spcBef>
                <a:spcPts val="1400"/>
              </a:spcBef>
              <a:spcAft>
                <a:spcPts val="400"/>
              </a:spcAft>
            </a:pPr>
            <a:r>
              <a:rPr b="1" sz="1400">
                <a:solidFill>
                  <a:srgbClr val="0F172A"/>
                </a:solidFill>
                <a:latin typeface="Inter"/>
              </a:rPr>
              <a:t>• Sensitive data tokenized</a:t>
            </a:r>
            <a:r>
              <a:rPr b="0" sz="1200">
                <a:solidFill>
                  <a:srgbClr val="64748B"/>
                </a:solidFill>
                <a:latin typeface="Inter"/>
              </a:rPr>
              <a:t>  at ingest — never stored raw</a:t>
            </a:r>
          </a:p>
          <a:p>
            <a:pPr algn="l">
              <a:spcBef>
                <a:spcPts val="1400"/>
              </a:spcBef>
              <a:spcAft>
                <a:spcPts val="400"/>
              </a:spcAft>
            </a:pPr>
            <a:r>
              <a:rPr b="1" sz="1400">
                <a:solidFill>
                  <a:srgbClr val="0F172A"/>
                </a:solidFill>
                <a:latin typeface="Inter"/>
              </a:rPr>
              <a:t>• Every query audited</a:t>
            </a:r>
            <a:r>
              <a:rPr b="0" sz="1200">
                <a:solidFill>
                  <a:srgbClr val="64748B"/>
                </a:solidFill>
                <a:latin typeface="Inter"/>
              </a:rPr>
              <a:t>  full lineage, immutable log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10820095" cy="566928"/>
          </a:xfrm>
          <a:prstGeom prst="rect">
            <a:avLst/>
          </a:prstGeom>
          <a:noFill/>
        </p:spPr>
        <p:txBody>
          <a:bodyPr wrap="square">
            <a:spAutoFit/>
          </a:bodyPr>
          <a:lstStyle/>
          <a:p>
            <a:pPr algn="l"/>
            <a:r>
              <a:rPr sz="2600" b="1" i="0">
                <a:solidFill>
                  <a:srgbClr val="0F172A"/>
                </a:solidFill>
                <a:latin typeface="Inter"/>
              </a:rPr>
              <a:t>The product</a:t>
            </a:r>
          </a:p>
        </p:txBody>
      </p:sp>
      <p:sp>
        <p:nvSpPr>
          <p:cNvPr id="3" name="TextBox 2"/>
          <p:cNvSpPr txBox="1"/>
          <p:nvPr/>
        </p:nvSpPr>
        <p:spPr>
          <a:xfrm>
            <a:off x="685800" y="1069848"/>
            <a:ext cx="10820095" cy="347472"/>
          </a:xfrm>
          <a:prstGeom prst="rect">
            <a:avLst/>
          </a:prstGeom>
          <a:noFill/>
        </p:spPr>
        <p:txBody>
          <a:bodyPr wrap="square">
            <a:spAutoFit/>
          </a:bodyPr>
          <a:lstStyle/>
          <a:p>
            <a:pPr algn="l"/>
            <a:r>
              <a:rPr sz="1400" b="0" i="1">
                <a:solidFill>
                  <a:srgbClr val="64748B"/>
                </a:solidFill>
                <a:latin typeface="Inter"/>
              </a:rPr>
              <a:t>How the user lives in it.</a:t>
            </a:r>
          </a:p>
        </p:txBody>
      </p:sp>
      <p:sp>
        <p:nvSpPr>
          <p:cNvPr id="4" name="Rectangle 3"/>
          <p:cNvSpPr/>
          <p:nvPr/>
        </p:nvSpPr>
        <p:spPr>
          <a:xfrm>
            <a:off x="685800" y="1453896"/>
            <a:ext cx="10820095" cy="1905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1719072"/>
            <a:ext cx="3484778" cy="3813048"/>
          </a:xfrm>
          <a:prstGeom prst="rect">
            <a:avLst/>
          </a:prstGeom>
          <a:solidFill>
            <a:srgbClr val="DBEAFE"/>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i="1">
                <a:solidFill>
                  <a:srgbClr val="2563EB"/>
                </a:solidFill>
                <a:latin typeface="Inter"/>
              </a:rPr>
              <a:t>[ Screen: Upload ]</a:t>
            </a:r>
          </a:p>
        </p:txBody>
      </p:sp>
      <p:sp>
        <p:nvSpPr>
          <p:cNvPr id="6" name="TextBox 5"/>
          <p:cNvSpPr txBox="1"/>
          <p:nvPr/>
        </p:nvSpPr>
        <p:spPr>
          <a:xfrm>
            <a:off x="685800" y="5623560"/>
            <a:ext cx="3484778" cy="347472"/>
          </a:xfrm>
          <a:prstGeom prst="rect">
            <a:avLst/>
          </a:prstGeom>
          <a:noFill/>
        </p:spPr>
        <p:txBody>
          <a:bodyPr wrap="square">
            <a:spAutoFit/>
          </a:bodyPr>
          <a:lstStyle/>
          <a:p>
            <a:pPr algn="ctr"/>
            <a:r>
              <a:rPr sz="1500" b="1" i="0">
                <a:solidFill>
                  <a:srgbClr val="0F172A"/>
                </a:solidFill>
                <a:latin typeface="Inter"/>
              </a:rPr>
              <a:t>Upload</a:t>
            </a:r>
          </a:p>
        </p:txBody>
      </p:sp>
      <p:sp>
        <p:nvSpPr>
          <p:cNvPr id="7" name="TextBox 6"/>
          <p:cNvSpPr txBox="1"/>
          <p:nvPr/>
        </p:nvSpPr>
        <p:spPr>
          <a:xfrm>
            <a:off x="685800" y="5943600"/>
            <a:ext cx="3484778" cy="411480"/>
          </a:xfrm>
          <a:prstGeom prst="rect">
            <a:avLst/>
          </a:prstGeom>
          <a:noFill/>
        </p:spPr>
        <p:txBody>
          <a:bodyPr wrap="square">
            <a:spAutoFit/>
          </a:bodyPr>
          <a:lstStyle/>
          <a:p>
            <a:pPr algn="ctr"/>
            <a:r>
              <a:rPr sz="1100" b="0" i="0">
                <a:solidFill>
                  <a:srgbClr val="64748B"/>
                </a:solidFill>
                <a:latin typeface="Inter"/>
              </a:rPr>
              <a:t>Drag-drop + file picker. Progress + confidence score per document.</a:t>
            </a:r>
          </a:p>
        </p:txBody>
      </p:sp>
      <p:sp>
        <p:nvSpPr>
          <p:cNvPr id="8" name="Rectangle 7"/>
          <p:cNvSpPr/>
          <p:nvPr/>
        </p:nvSpPr>
        <p:spPr>
          <a:xfrm>
            <a:off x="4353458" y="1719072"/>
            <a:ext cx="3484778" cy="3813048"/>
          </a:xfrm>
          <a:prstGeom prst="rect">
            <a:avLst/>
          </a:prstGeom>
          <a:solidFill>
            <a:srgbClr val="DBEAFE"/>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i="1">
                <a:solidFill>
                  <a:srgbClr val="2563EB"/>
                </a:solidFill>
                <a:latin typeface="Inter"/>
              </a:rPr>
              <a:t>[ Screen: Ask ]</a:t>
            </a:r>
          </a:p>
        </p:txBody>
      </p:sp>
      <p:sp>
        <p:nvSpPr>
          <p:cNvPr id="9" name="TextBox 8"/>
          <p:cNvSpPr txBox="1"/>
          <p:nvPr/>
        </p:nvSpPr>
        <p:spPr>
          <a:xfrm>
            <a:off x="4353458" y="5623560"/>
            <a:ext cx="3484778" cy="347472"/>
          </a:xfrm>
          <a:prstGeom prst="rect">
            <a:avLst/>
          </a:prstGeom>
          <a:noFill/>
        </p:spPr>
        <p:txBody>
          <a:bodyPr wrap="square">
            <a:spAutoFit/>
          </a:bodyPr>
          <a:lstStyle/>
          <a:p>
            <a:pPr algn="ctr"/>
            <a:r>
              <a:rPr sz="1500" b="1" i="0">
                <a:solidFill>
                  <a:srgbClr val="0F172A"/>
                </a:solidFill>
                <a:latin typeface="Inter"/>
              </a:rPr>
              <a:t>Ask</a:t>
            </a:r>
          </a:p>
        </p:txBody>
      </p:sp>
      <p:sp>
        <p:nvSpPr>
          <p:cNvPr id="10" name="TextBox 9"/>
          <p:cNvSpPr txBox="1"/>
          <p:nvPr/>
        </p:nvSpPr>
        <p:spPr>
          <a:xfrm>
            <a:off x="4353458" y="5943600"/>
            <a:ext cx="3484778" cy="411480"/>
          </a:xfrm>
          <a:prstGeom prst="rect">
            <a:avLst/>
          </a:prstGeom>
          <a:noFill/>
        </p:spPr>
        <p:txBody>
          <a:bodyPr wrap="square">
            <a:spAutoFit/>
          </a:bodyPr>
          <a:lstStyle/>
          <a:p>
            <a:pPr algn="ctr"/>
            <a:r>
              <a:rPr sz="1100" b="0" i="0">
                <a:solidFill>
                  <a:srgbClr val="64748B"/>
                </a:solidFill>
                <a:latin typeface="Inter"/>
              </a:rPr>
              <a:t>Chat interface. Inline citations. Confidence band. Observability strip.</a:t>
            </a:r>
          </a:p>
        </p:txBody>
      </p:sp>
      <p:sp>
        <p:nvSpPr>
          <p:cNvPr id="11" name="Rectangle 10"/>
          <p:cNvSpPr/>
          <p:nvPr/>
        </p:nvSpPr>
        <p:spPr>
          <a:xfrm>
            <a:off x="8021116" y="1719072"/>
            <a:ext cx="3484778" cy="3813048"/>
          </a:xfrm>
          <a:prstGeom prst="rect">
            <a:avLst/>
          </a:prstGeom>
          <a:solidFill>
            <a:srgbClr val="DBEAFE"/>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i="1">
                <a:solidFill>
                  <a:srgbClr val="2563EB"/>
                </a:solidFill>
                <a:latin typeface="Inter"/>
              </a:rPr>
              <a:t>[ Screen: Explain ]</a:t>
            </a:r>
          </a:p>
        </p:txBody>
      </p:sp>
      <p:sp>
        <p:nvSpPr>
          <p:cNvPr id="12" name="TextBox 11"/>
          <p:cNvSpPr txBox="1"/>
          <p:nvPr/>
        </p:nvSpPr>
        <p:spPr>
          <a:xfrm>
            <a:off x="8021116" y="5623560"/>
            <a:ext cx="3484778" cy="347472"/>
          </a:xfrm>
          <a:prstGeom prst="rect">
            <a:avLst/>
          </a:prstGeom>
          <a:noFill/>
        </p:spPr>
        <p:txBody>
          <a:bodyPr wrap="square">
            <a:spAutoFit/>
          </a:bodyPr>
          <a:lstStyle/>
          <a:p>
            <a:pPr algn="ctr"/>
            <a:r>
              <a:rPr sz="1500" b="1" i="0">
                <a:solidFill>
                  <a:srgbClr val="0F172A"/>
                </a:solidFill>
                <a:latin typeface="Inter"/>
              </a:rPr>
              <a:t>Explain</a:t>
            </a:r>
          </a:p>
        </p:txBody>
      </p:sp>
      <p:sp>
        <p:nvSpPr>
          <p:cNvPr id="13" name="TextBox 12"/>
          <p:cNvSpPr txBox="1"/>
          <p:nvPr/>
        </p:nvSpPr>
        <p:spPr>
          <a:xfrm>
            <a:off x="8021116" y="5943600"/>
            <a:ext cx="3484778" cy="411480"/>
          </a:xfrm>
          <a:prstGeom prst="rect">
            <a:avLst/>
          </a:prstGeom>
          <a:noFill/>
        </p:spPr>
        <p:txBody>
          <a:bodyPr wrap="square">
            <a:spAutoFit/>
          </a:bodyPr>
          <a:lstStyle/>
          <a:p>
            <a:pPr algn="ctr"/>
            <a:r>
              <a:rPr sz="1100" b="0" i="0">
                <a:solidFill>
                  <a:srgbClr val="64748B"/>
                </a:solidFill>
                <a:latin typeface="Inter"/>
              </a:rPr>
              <a:t>Term card: general definition + in-context meaning + divergence flag.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10820095" cy="566928"/>
          </a:xfrm>
          <a:prstGeom prst="rect">
            <a:avLst/>
          </a:prstGeom>
          <a:noFill/>
        </p:spPr>
        <p:txBody>
          <a:bodyPr wrap="square">
            <a:spAutoFit/>
          </a:bodyPr>
          <a:lstStyle/>
          <a:p>
            <a:pPr algn="l"/>
            <a:r>
              <a:rPr sz="2600" b="1" i="0">
                <a:solidFill>
                  <a:srgbClr val="0F172A"/>
                </a:solidFill>
                <a:latin typeface="Inter"/>
              </a:rPr>
              <a:t>The hero screen</a:t>
            </a:r>
          </a:p>
        </p:txBody>
      </p:sp>
      <p:sp>
        <p:nvSpPr>
          <p:cNvPr id="3" name="TextBox 2"/>
          <p:cNvSpPr txBox="1"/>
          <p:nvPr/>
        </p:nvSpPr>
        <p:spPr>
          <a:xfrm>
            <a:off x="685800" y="1069848"/>
            <a:ext cx="10820095" cy="347472"/>
          </a:xfrm>
          <a:prstGeom prst="rect">
            <a:avLst/>
          </a:prstGeom>
          <a:noFill/>
        </p:spPr>
        <p:txBody>
          <a:bodyPr wrap="square">
            <a:spAutoFit/>
          </a:bodyPr>
          <a:lstStyle/>
          <a:p>
            <a:pPr algn="l"/>
            <a:r>
              <a:rPr sz="1400" b="0" i="1">
                <a:solidFill>
                  <a:srgbClr val="64748B"/>
                </a:solidFill>
                <a:latin typeface="Inter"/>
              </a:rPr>
              <a:t>The Q&amp;A interface — three deliberate design choices.</a:t>
            </a:r>
          </a:p>
        </p:txBody>
      </p:sp>
      <p:sp>
        <p:nvSpPr>
          <p:cNvPr id="4" name="Rectangle 3"/>
          <p:cNvSpPr/>
          <p:nvPr/>
        </p:nvSpPr>
        <p:spPr>
          <a:xfrm>
            <a:off x="685800" y="1453896"/>
            <a:ext cx="10820095" cy="1905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1673352"/>
            <a:ext cx="6816659" cy="4590288"/>
          </a:xfrm>
          <a:prstGeom prst="rect">
            <a:avLst/>
          </a:prstGeom>
          <a:solidFill>
            <a:srgbClr val="DBEAFE"/>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i="1">
                <a:solidFill>
                  <a:srgbClr val="2563EB"/>
                </a:solidFill>
                <a:latin typeface="Inter"/>
              </a:rPr>
              <a:t>[ Q&amp;A wireframe ]
Query bar  →  Observability strip
→  Answer with inline citations
→  Suppressed-claim warning  →  Vote chips</a:t>
            </a:r>
          </a:p>
        </p:txBody>
      </p:sp>
      <p:sp>
        <p:nvSpPr>
          <p:cNvPr id="6" name="Rectangle 5"/>
          <p:cNvSpPr/>
          <p:nvPr/>
        </p:nvSpPr>
        <p:spPr>
          <a:xfrm>
            <a:off x="7776779" y="1764792"/>
            <a:ext cx="54864" cy="8229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13939" y="1764792"/>
            <a:ext cx="3591955" cy="320040"/>
          </a:xfrm>
          <a:prstGeom prst="rect">
            <a:avLst/>
          </a:prstGeom>
          <a:noFill/>
        </p:spPr>
        <p:txBody>
          <a:bodyPr wrap="square">
            <a:spAutoFit/>
          </a:bodyPr>
          <a:lstStyle/>
          <a:p>
            <a:pPr algn="l"/>
            <a:r>
              <a:rPr sz="1300" b="1" i="0">
                <a:solidFill>
                  <a:srgbClr val="2563EB"/>
                </a:solidFill>
                <a:latin typeface="Inter"/>
              </a:rPr>
              <a:t>Observability strip</a:t>
            </a:r>
          </a:p>
        </p:txBody>
      </p:sp>
      <p:sp>
        <p:nvSpPr>
          <p:cNvPr id="8" name="TextBox 7"/>
          <p:cNvSpPr txBox="1"/>
          <p:nvPr/>
        </p:nvSpPr>
        <p:spPr>
          <a:xfrm>
            <a:off x="7913939" y="2084832"/>
            <a:ext cx="3591955" cy="640080"/>
          </a:xfrm>
          <a:prstGeom prst="rect">
            <a:avLst/>
          </a:prstGeom>
          <a:noFill/>
        </p:spPr>
        <p:txBody>
          <a:bodyPr wrap="square">
            <a:spAutoFit/>
          </a:bodyPr>
          <a:lstStyle/>
          <a:p>
            <a:pPr algn="l"/>
            <a:r>
              <a:rPr sz="1100" b="0" i="0">
                <a:solidFill>
                  <a:srgbClr val="64748B"/>
                </a:solidFill>
                <a:latin typeface="Inter"/>
              </a:rPr>
              <a:t>Routing, rerank, citation-check — how the answer was produced, surfaced to the user.</a:t>
            </a:r>
          </a:p>
        </p:txBody>
      </p:sp>
      <p:sp>
        <p:nvSpPr>
          <p:cNvPr id="9" name="Rectangle 8"/>
          <p:cNvSpPr/>
          <p:nvPr/>
        </p:nvSpPr>
        <p:spPr>
          <a:xfrm>
            <a:off x="7776779" y="2770632"/>
            <a:ext cx="54864" cy="8229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13939" y="2770632"/>
            <a:ext cx="3591955" cy="320040"/>
          </a:xfrm>
          <a:prstGeom prst="rect">
            <a:avLst/>
          </a:prstGeom>
          <a:noFill/>
        </p:spPr>
        <p:txBody>
          <a:bodyPr wrap="square">
            <a:spAutoFit/>
          </a:bodyPr>
          <a:lstStyle/>
          <a:p>
            <a:pPr algn="l"/>
            <a:r>
              <a:rPr sz="1300" b="1" i="0">
                <a:solidFill>
                  <a:srgbClr val="0F172A"/>
                </a:solidFill>
                <a:latin typeface="Inter"/>
              </a:rPr>
              <a:t>Inline citations</a:t>
            </a:r>
          </a:p>
        </p:txBody>
      </p:sp>
      <p:sp>
        <p:nvSpPr>
          <p:cNvPr id="11" name="TextBox 10"/>
          <p:cNvSpPr txBox="1"/>
          <p:nvPr/>
        </p:nvSpPr>
        <p:spPr>
          <a:xfrm>
            <a:off x="7913939" y="3090672"/>
            <a:ext cx="3591955" cy="640080"/>
          </a:xfrm>
          <a:prstGeom prst="rect">
            <a:avLst/>
          </a:prstGeom>
          <a:noFill/>
        </p:spPr>
        <p:txBody>
          <a:bodyPr wrap="square">
            <a:spAutoFit/>
          </a:bodyPr>
          <a:lstStyle/>
          <a:p>
            <a:pPr algn="l"/>
            <a:r>
              <a:rPr sz="1100" b="0" i="0">
                <a:solidFill>
                  <a:srgbClr val="64748B"/>
                </a:solidFill>
                <a:latin typeface="Inter"/>
              </a:rPr>
              <a:t>Answer broken into claims. Each claim → source. Verified in two seconds.</a:t>
            </a:r>
          </a:p>
        </p:txBody>
      </p:sp>
      <p:sp>
        <p:nvSpPr>
          <p:cNvPr id="12" name="Rectangle 11"/>
          <p:cNvSpPr/>
          <p:nvPr/>
        </p:nvSpPr>
        <p:spPr>
          <a:xfrm>
            <a:off x="7776779" y="3776472"/>
            <a:ext cx="54864" cy="82296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13939" y="3776472"/>
            <a:ext cx="3591955" cy="320040"/>
          </a:xfrm>
          <a:prstGeom prst="rect">
            <a:avLst/>
          </a:prstGeom>
          <a:noFill/>
        </p:spPr>
        <p:txBody>
          <a:bodyPr wrap="square">
            <a:spAutoFit/>
          </a:bodyPr>
          <a:lstStyle/>
          <a:p>
            <a:pPr algn="l"/>
            <a:r>
              <a:rPr sz="1300" b="1" i="0">
                <a:solidFill>
                  <a:srgbClr val="D97706"/>
                </a:solidFill>
                <a:latin typeface="Inter"/>
              </a:rPr>
              <a:t>Suppressed-claim warning</a:t>
            </a:r>
          </a:p>
        </p:txBody>
      </p:sp>
      <p:sp>
        <p:nvSpPr>
          <p:cNvPr id="14" name="TextBox 13"/>
          <p:cNvSpPr txBox="1"/>
          <p:nvPr/>
        </p:nvSpPr>
        <p:spPr>
          <a:xfrm>
            <a:off x="7913939" y="4096512"/>
            <a:ext cx="3591955" cy="640080"/>
          </a:xfrm>
          <a:prstGeom prst="rect">
            <a:avLst/>
          </a:prstGeom>
          <a:noFill/>
        </p:spPr>
        <p:txBody>
          <a:bodyPr wrap="square">
            <a:spAutoFit/>
          </a:bodyPr>
          <a:lstStyle/>
          <a:p>
            <a:pPr algn="l"/>
            <a:r>
              <a:rPr sz="1100" b="0" i="0">
                <a:solidFill>
                  <a:srgbClr val="64748B"/>
                </a:solidFill>
                <a:latin typeface="Inter"/>
              </a:rPr>
              <a:t>When citation-check kills a claim, it shows — never hidden. Cite-or-refuse made visible.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10820095" cy="566928"/>
          </a:xfrm>
          <a:prstGeom prst="rect">
            <a:avLst/>
          </a:prstGeom>
          <a:noFill/>
        </p:spPr>
        <p:txBody>
          <a:bodyPr wrap="square">
            <a:spAutoFit/>
          </a:bodyPr>
          <a:lstStyle/>
          <a:p>
            <a:pPr algn="l"/>
            <a:r>
              <a:rPr sz="2600" b="1" i="0">
                <a:solidFill>
                  <a:srgbClr val="0F172A"/>
                </a:solidFill>
                <a:latin typeface="Inter"/>
              </a:rPr>
              <a:t>Refusal: a feature, not an error.</a:t>
            </a:r>
          </a:p>
        </p:txBody>
      </p:sp>
      <p:sp>
        <p:nvSpPr>
          <p:cNvPr id="3" name="TextBox 2"/>
          <p:cNvSpPr txBox="1"/>
          <p:nvPr/>
        </p:nvSpPr>
        <p:spPr>
          <a:xfrm>
            <a:off x="685800" y="1069848"/>
            <a:ext cx="10820095" cy="347472"/>
          </a:xfrm>
          <a:prstGeom prst="rect">
            <a:avLst/>
          </a:prstGeom>
          <a:noFill/>
        </p:spPr>
        <p:txBody>
          <a:bodyPr wrap="square">
            <a:spAutoFit/>
          </a:bodyPr>
          <a:lstStyle/>
          <a:p>
            <a:pPr algn="l"/>
            <a:r>
              <a:rPr sz="1400" b="0" i="1">
                <a:solidFill>
                  <a:srgbClr val="64748B"/>
                </a:solidFill>
                <a:latin typeface="Inter"/>
              </a:rPr>
              <a:t>"I cannot find this in the documents."</a:t>
            </a:r>
          </a:p>
        </p:txBody>
      </p:sp>
      <p:sp>
        <p:nvSpPr>
          <p:cNvPr id="4" name="Rectangle 3"/>
          <p:cNvSpPr/>
          <p:nvPr/>
        </p:nvSpPr>
        <p:spPr>
          <a:xfrm>
            <a:off x="685800" y="1453896"/>
            <a:ext cx="10820095" cy="1905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1764792"/>
            <a:ext cx="10820095" cy="3200400"/>
          </a:xfrm>
          <a:prstGeom prst="rect">
            <a:avLst/>
          </a:prstGeom>
          <a:solidFill>
            <a:srgbClr val="F1F5F9"/>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051560" y="2084832"/>
            <a:ext cx="457200" cy="457200"/>
          </a:xfrm>
          <a:prstGeom prst="ellipse">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691640" y="1993392"/>
            <a:ext cx="9539935" cy="457200"/>
          </a:xfrm>
          <a:prstGeom prst="rect">
            <a:avLst/>
          </a:prstGeom>
          <a:noFill/>
        </p:spPr>
        <p:txBody>
          <a:bodyPr wrap="square">
            <a:spAutoFit/>
          </a:bodyPr>
          <a:lstStyle/>
          <a:p>
            <a:pPr algn="l"/>
            <a:r>
              <a:rPr sz="2000" b="1" i="0">
                <a:solidFill>
                  <a:srgbClr val="0F172A"/>
                </a:solidFill>
                <a:latin typeface="Inter"/>
              </a:rPr>
              <a:t>I cannot find this in the documents.</a:t>
            </a:r>
          </a:p>
        </p:txBody>
      </p:sp>
      <p:sp>
        <p:nvSpPr>
          <p:cNvPr id="8" name="TextBox 7"/>
          <p:cNvSpPr txBox="1"/>
          <p:nvPr/>
        </p:nvSpPr>
        <p:spPr>
          <a:xfrm>
            <a:off x="1051560" y="2587752"/>
            <a:ext cx="548640" cy="320040"/>
          </a:xfrm>
          <a:prstGeom prst="rect">
            <a:avLst/>
          </a:prstGeom>
          <a:noFill/>
        </p:spPr>
        <p:txBody>
          <a:bodyPr wrap="square">
            <a:spAutoFit/>
          </a:bodyPr>
          <a:lstStyle/>
          <a:p>
            <a:pPr algn="l"/>
            <a:r>
              <a:rPr sz="1300" b="1" i="0">
                <a:solidFill>
                  <a:srgbClr val="64748B"/>
                </a:solidFill>
                <a:latin typeface="Inter"/>
              </a:rPr>
              <a:t>Why:</a:t>
            </a:r>
          </a:p>
        </p:txBody>
      </p:sp>
      <p:sp>
        <p:nvSpPr>
          <p:cNvPr id="9" name="TextBox 8"/>
          <p:cNvSpPr txBox="1"/>
          <p:nvPr/>
        </p:nvSpPr>
        <p:spPr>
          <a:xfrm>
            <a:off x="1691640" y="2587752"/>
            <a:ext cx="9539935" cy="548640"/>
          </a:xfrm>
          <a:prstGeom prst="rect">
            <a:avLst/>
          </a:prstGeom>
          <a:noFill/>
        </p:spPr>
        <p:txBody>
          <a:bodyPr wrap="square">
            <a:spAutoFit/>
          </a:bodyPr>
          <a:lstStyle/>
          <a:p>
            <a:pPr algn="l"/>
            <a:r>
              <a:rPr sz="1300" b="0" i="0">
                <a:solidFill>
                  <a:srgbClr val="64748B"/>
                </a:solidFill>
                <a:latin typeface="Inter"/>
              </a:rPr>
              <a:t>The question references documents not in the current corpus, or the confidence threshold was not met.</a:t>
            </a:r>
          </a:p>
        </p:txBody>
      </p:sp>
      <p:sp>
        <p:nvSpPr>
          <p:cNvPr id="10" name="TextBox 9"/>
          <p:cNvSpPr txBox="1"/>
          <p:nvPr/>
        </p:nvSpPr>
        <p:spPr>
          <a:xfrm>
            <a:off x="1051560" y="3319272"/>
            <a:ext cx="1188720" cy="320040"/>
          </a:xfrm>
          <a:prstGeom prst="rect">
            <a:avLst/>
          </a:prstGeom>
          <a:noFill/>
        </p:spPr>
        <p:txBody>
          <a:bodyPr wrap="square">
            <a:spAutoFit/>
          </a:bodyPr>
          <a:lstStyle/>
          <a:p>
            <a:pPr algn="l"/>
            <a:r>
              <a:rPr sz="1300" b="1" i="0">
                <a:solidFill>
                  <a:srgbClr val="64748B"/>
                </a:solidFill>
                <a:latin typeface="Inter"/>
              </a:rPr>
              <a:t>You might try:</a:t>
            </a:r>
          </a:p>
        </p:txBody>
      </p:sp>
      <p:sp>
        <p:nvSpPr>
          <p:cNvPr id="11" name="TextBox 10"/>
          <p:cNvSpPr txBox="1"/>
          <p:nvPr/>
        </p:nvSpPr>
        <p:spPr>
          <a:xfrm>
            <a:off x="1691640" y="3319272"/>
            <a:ext cx="9539935" cy="548640"/>
          </a:xfrm>
          <a:prstGeom prst="rect">
            <a:avLst/>
          </a:prstGeom>
          <a:noFill/>
        </p:spPr>
        <p:txBody>
          <a:bodyPr wrap="square">
            <a:spAutoFit/>
          </a:bodyPr>
          <a:lstStyle/>
          <a:p>
            <a:pPr algn="l"/>
            <a:r>
              <a:rPr sz="1300" b="0" i="0">
                <a:solidFill>
                  <a:srgbClr val="64748B"/>
                </a:solidFill>
                <a:latin typeface="Inter"/>
              </a:rPr>
              <a:t>Upload additional documents  ·  Rephrase with a specific section or date  ·  Contact a specialist</a:t>
            </a:r>
          </a:p>
        </p:txBody>
      </p:sp>
      <p:sp>
        <p:nvSpPr>
          <p:cNvPr id="12" name="TextBox 11"/>
          <p:cNvSpPr txBox="1"/>
          <p:nvPr/>
        </p:nvSpPr>
        <p:spPr>
          <a:xfrm>
            <a:off x="685800" y="5193792"/>
            <a:ext cx="10820095" cy="502920"/>
          </a:xfrm>
          <a:prstGeom prst="rect">
            <a:avLst/>
          </a:prstGeom>
          <a:noFill/>
        </p:spPr>
        <p:txBody>
          <a:bodyPr wrap="square">
            <a:spAutoFit/>
          </a:bodyPr>
          <a:lstStyle/>
          <a:p>
            <a:pPr algn="ctr"/>
            <a:r>
              <a:rPr sz="1700" b="0" i="1">
                <a:solidFill>
                  <a:srgbClr val="0F172A"/>
                </a:solidFill>
                <a:latin typeface="Inter"/>
              </a:rPr>
              <a:t>Gray, not red — because saying 'I don't know' isn't a system failure. It's the product working correctly.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10820095" cy="566928"/>
          </a:xfrm>
          <a:prstGeom prst="rect">
            <a:avLst/>
          </a:prstGeom>
          <a:noFill/>
        </p:spPr>
        <p:txBody>
          <a:bodyPr wrap="square">
            <a:spAutoFit/>
          </a:bodyPr>
          <a:lstStyle/>
          <a:p>
            <a:pPr algn="l"/>
            <a:r>
              <a:rPr sz="2600" b="1" i="0">
                <a:solidFill>
                  <a:srgbClr val="0F172A"/>
                </a:solidFill>
                <a:latin typeface="Inter"/>
              </a:rPr>
              <a:t>The API as a contract</a:t>
            </a:r>
          </a:p>
        </p:txBody>
      </p:sp>
      <p:sp>
        <p:nvSpPr>
          <p:cNvPr id="3" name="TextBox 2"/>
          <p:cNvSpPr txBox="1"/>
          <p:nvPr/>
        </p:nvSpPr>
        <p:spPr>
          <a:xfrm>
            <a:off x="685800" y="1069848"/>
            <a:ext cx="10820095" cy="347472"/>
          </a:xfrm>
          <a:prstGeom prst="rect">
            <a:avLst/>
          </a:prstGeom>
          <a:noFill/>
        </p:spPr>
        <p:txBody>
          <a:bodyPr wrap="square">
            <a:spAutoFit/>
          </a:bodyPr>
          <a:lstStyle/>
          <a:p>
            <a:pPr algn="l"/>
            <a:r>
              <a:rPr sz="1400" b="0" i="1">
                <a:solidFill>
                  <a:srgbClr val="64748B"/>
                </a:solidFill>
                <a:latin typeface="Inter"/>
              </a:rPr>
              <a:t>Cite-or-refuse isn't just model behavior. It's the API.</a:t>
            </a:r>
          </a:p>
        </p:txBody>
      </p:sp>
      <p:sp>
        <p:nvSpPr>
          <p:cNvPr id="4" name="Rectangle 3"/>
          <p:cNvSpPr/>
          <p:nvPr/>
        </p:nvSpPr>
        <p:spPr>
          <a:xfrm>
            <a:off x="685800" y="1453896"/>
            <a:ext cx="10820095" cy="1905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685800" y="1719072"/>
          <a:ext cx="7357664" cy="2194560"/>
        </p:xfrm>
        <a:graphic>
          <a:graphicData uri="http://schemas.openxmlformats.org/drawingml/2006/table">
            <a:tbl>
              <a:tblPr firstRow="1" bandRow="1">
                <a:tableStyleId>{5C22544A-7EE6-4342-B048-85BDC9FD1C3A}</a:tableStyleId>
              </a:tblPr>
              <a:tblGrid>
                <a:gridCol w="3090219"/>
                <a:gridCol w="4267445"/>
              </a:tblGrid>
              <a:tr h="548640">
                <a:tc>
                  <a:txBody>
                    <a:bodyPr wrap="square"/>
                    <a:lstStyle/>
                    <a:p>
                      <a:pPr algn="l"/>
                      <a:r>
                        <a:rPr sz="1200" b="1" i="0">
                          <a:solidFill>
                            <a:srgbClr val="FFFFFF"/>
                          </a:solidFill>
                          <a:latin typeface="Inter"/>
                        </a:rPr>
                        <a:t>Endpoint</a:t>
                      </a:r>
                    </a:p>
                  </a:txBody>
                  <a:tcPr>
                    <a:solidFill>
                      <a:srgbClr val="1D4ED8"/>
                    </a:solidFill>
                  </a:tcPr>
                </a:tc>
                <a:tc>
                  <a:txBody>
                    <a:bodyPr wrap="square"/>
                    <a:lstStyle/>
                    <a:p>
                      <a:pPr algn="l"/>
                      <a:r>
                        <a:rPr sz="1200" b="1" i="0">
                          <a:solidFill>
                            <a:srgbClr val="FFFFFF"/>
                          </a:solidFill>
                          <a:latin typeface="Inter"/>
                        </a:rPr>
                        <a:t>What it proves</a:t>
                      </a:r>
                    </a:p>
                  </a:txBody>
                  <a:tcPr>
                    <a:solidFill>
                      <a:srgbClr val="1D4ED8"/>
                    </a:solidFill>
                  </a:tcPr>
                </a:tc>
              </a:tr>
              <a:tr h="548640">
                <a:tc>
                  <a:txBody>
                    <a:bodyPr wrap="square"/>
                    <a:lstStyle/>
                    <a:p>
                      <a:pPr algn="l"/>
                      <a:r>
                        <a:rPr sz="1100" b="1" i="0">
                          <a:solidFill>
                            <a:srgbClr val="2563EB"/>
                          </a:solidFill>
                          <a:latin typeface="Inter"/>
                        </a:rPr>
                        <a:t>POST /v1/documents</a:t>
                      </a:r>
                    </a:p>
                  </a:txBody>
                  <a:tcPr>
                    <a:solidFill>
                      <a:srgbClr val="FFFFFF"/>
                    </a:solidFill>
                  </a:tcPr>
                </a:tc>
                <a:tc>
                  <a:txBody>
                    <a:bodyPr wrap="square"/>
                    <a:lstStyle/>
                    <a:p>
                      <a:pPr algn="l"/>
                      <a:r>
                        <a:rPr sz="1100" b="0" i="0">
                          <a:solidFill>
                            <a:srgbClr val="0F172A"/>
                          </a:solidFill>
                          <a:latin typeface="Inter"/>
                        </a:rPr>
                        <a:t>Honest async + confidence score + low-quality handling</a:t>
                      </a:r>
                    </a:p>
                  </a:txBody>
                  <a:tcPr>
                    <a:solidFill>
                      <a:srgbClr val="FFFFFF"/>
                    </a:solidFill>
                  </a:tcPr>
                </a:tc>
              </a:tr>
              <a:tr h="548640">
                <a:tc>
                  <a:txBody>
                    <a:bodyPr wrap="square"/>
                    <a:lstStyle/>
                    <a:p>
                      <a:pPr algn="l"/>
                      <a:r>
                        <a:rPr sz="1100" b="1" i="0">
                          <a:solidFill>
                            <a:srgbClr val="2563EB"/>
                          </a:solidFill>
                          <a:latin typeface="Inter"/>
                        </a:rPr>
                        <a:t>POST /v1/documents/{id}/explain</a:t>
                      </a:r>
                    </a:p>
                  </a:txBody>
                  <a:tcPr>
                    <a:solidFill>
                      <a:srgbClr val="F1F5F9"/>
                    </a:solidFill>
                  </a:tcPr>
                </a:tc>
                <a:tc>
                  <a:txBody>
                    <a:bodyPr wrap="square"/>
                    <a:lstStyle/>
                    <a:p>
                      <a:pPr algn="l"/>
                      <a:r>
                        <a:rPr sz="1100" b="0" i="0">
                          <a:solidFill>
                            <a:srgbClr val="0F172A"/>
                          </a:solidFill>
                          <a:latin typeface="Inter"/>
                        </a:rPr>
                        <a:t>Jargon layer made tangible — disambiguation, divergence, double-grounding</a:t>
                      </a:r>
                    </a:p>
                  </a:txBody>
                  <a:tcPr>
                    <a:solidFill>
                      <a:srgbClr val="F1F5F9"/>
                    </a:solidFill>
                  </a:tcPr>
                </a:tc>
              </a:tr>
              <a:tr h="548640">
                <a:tc>
                  <a:txBody>
                    <a:bodyPr wrap="square"/>
                    <a:lstStyle/>
                    <a:p>
                      <a:pPr algn="l"/>
                      <a:r>
                        <a:rPr sz="1100" b="1" i="0">
                          <a:solidFill>
                            <a:srgbClr val="2563EB"/>
                          </a:solidFill>
                          <a:latin typeface="Inter"/>
                        </a:rPr>
                        <a:t>POST /v1/documents/{id}/query</a:t>
                      </a:r>
                    </a:p>
                  </a:txBody>
                  <a:tcPr>
                    <a:solidFill>
                      <a:srgbClr val="FFFFFF"/>
                    </a:solidFill>
                  </a:tcPr>
                </a:tc>
                <a:tc>
                  <a:txBody>
                    <a:bodyPr wrap="square"/>
                    <a:lstStyle/>
                    <a:p>
                      <a:pPr algn="l"/>
                      <a:r>
                        <a:rPr sz="1100" b="0" i="0">
                          <a:solidFill>
                            <a:srgbClr val="0F172A"/>
                          </a:solidFill>
                          <a:latin typeface="Inter"/>
                        </a:rPr>
                        <a:t>Refusal is a 200 OK with answer: null — not an error</a:t>
                      </a:r>
                    </a:p>
                  </a:txBody>
                  <a:tcPr>
                    <a:solidFill>
                      <a:srgbClr val="FFFFFF"/>
                    </a:solidFill>
                  </a:tcPr>
                </a:tc>
              </a:tr>
            </a:tbl>
          </a:graphicData>
        </a:graphic>
      </p:graphicFrame>
      <p:sp>
        <p:nvSpPr>
          <p:cNvPr id="6" name="TextBox 5"/>
          <p:cNvSpPr txBox="1"/>
          <p:nvPr/>
        </p:nvSpPr>
        <p:spPr>
          <a:xfrm>
            <a:off x="8259866" y="1719072"/>
            <a:ext cx="3246028" cy="320040"/>
          </a:xfrm>
          <a:prstGeom prst="rect">
            <a:avLst/>
          </a:prstGeom>
          <a:noFill/>
        </p:spPr>
        <p:txBody>
          <a:bodyPr wrap="square">
            <a:spAutoFit/>
          </a:bodyPr>
          <a:lstStyle/>
          <a:p>
            <a:pPr algn="l"/>
            <a:r>
              <a:rPr sz="1300" b="1" i="0">
                <a:solidFill>
                  <a:srgbClr val="0F172A"/>
                </a:solidFill>
                <a:latin typeface="Inter"/>
              </a:rPr>
              <a:t>Three principles:</a:t>
            </a:r>
          </a:p>
        </p:txBody>
      </p:sp>
      <p:sp>
        <p:nvSpPr>
          <p:cNvPr id="7" name="TextBox 6"/>
          <p:cNvSpPr txBox="1"/>
          <p:nvPr/>
        </p:nvSpPr>
        <p:spPr>
          <a:xfrm>
            <a:off x="8259866" y="2130552"/>
            <a:ext cx="3246028" cy="502920"/>
          </a:xfrm>
          <a:prstGeom prst="rect">
            <a:avLst/>
          </a:prstGeom>
          <a:noFill/>
        </p:spPr>
        <p:txBody>
          <a:bodyPr wrap="square">
            <a:spAutoFit/>
          </a:bodyPr>
          <a:lstStyle/>
          <a:p>
            <a:pPr algn="l"/>
            <a:r>
              <a:rPr sz="1200" b="0" i="0">
                <a:solidFill>
                  <a:srgbClr val="64748B"/>
                </a:solidFill>
                <a:latin typeface="Inter"/>
              </a:rPr>
              <a:t>1.  Cite-or-refuse is a first-class response, not an error</a:t>
            </a:r>
          </a:p>
        </p:txBody>
      </p:sp>
      <p:sp>
        <p:nvSpPr>
          <p:cNvPr id="8" name="TextBox 7"/>
          <p:cNvSpPr txBox="1"/>
          <p:nvPr/>
        </p:nvSpPr>
        <p:spPr>
          <a:xfrm>
            <a:off x="8259866" y="2679192"/>
            <a:ext cx="3246028" cy="502920"/>
          </a:xfrm>
          <a:prstGeom prst="rect">
            <a:avLst/>
          </a:prstGeom>
          <a:noFill/>
        </p:spPr>
        <p:txBody>
          <a:bodyPr wrap="square">
            <a:spAutoFit/>
          </a:bodyPr>
          <a:lstStyle/>
          <a:p>
            <a:pPr algn="l"/>
            <a:r>
              <a:rPr sz="1200" b="0" i="0">
                <a:solidFill>
                  <a:srgbClr val="64748B"/>
                </a:solidFill>
                <a:latin typeface="Inter"/>
              </a:rPr>
              <a:t>2.  Confidence is always exposed</a:t>
            </a:r>
          </a:p>
        </p:txBody>
      </p:sp>
      <p:sp>
        <p:nvSpPr>
          <p:cNvPr id="9" name="TextBox 8"/>
          <p:cNvSpPr txBox="1"/>
          <p:nvPr/>
        </p:nvSpPr>
        <p:spPr>
          <a:xfrm>
            <a:off x="8259866" y="3227832"/>
            <a:ext cx="3246028" cy="502920"/>
          </a:xfrm>
          <a:prstGeom prst="rect">
            <a:avLst/>
          </a:prstGeom>
          <a:noFill/>
        </p:spPr>
        <p:txBody>
          <a:bodyPr wrap="square">
            <a:spAutoFit/>
          </a:bodyPr>
          <a:lstStyle/>
          <a:p>
            <a:pPr algn="l"/>
            <a:r>
              <a:rPr sz="1200" b="0" i="0">
                <a:solidFill>
                  <a:srgbClr val="64748B"/>
                </a:solidFill>
                <a:latin typeface="Inter"/>
              </a:rPr>
              <a:t>3.  Async where work is real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10820095" cy="566928"/>
          </a:xfrm>
          <a:prstGeom prst="rect">
            <a:avLst/>
          </a:prstGeom>
          <a:noFill/>
        </p:spPr>
        <p:txBody>
          <a:bodyPr wrap="square">
            <a:spAutoFit/>
          </a:bodyPr>
          <a:lstStyle/>
          <a:p>
            <a:pPr algn="l"/>
            <a:r>
              <a:rPr sz="2600" b="1" i="0">
                <a:solidFill>
                  <a:srgbClr val="0F172A"/>
                </a:solidFill>
                <a:latin typeface="Inter"/>
              </a:rPr>
              <a:t>Edge cases I designed for</a:t>
            </a:r>
          </a:p>
        </p:txBody>
      </p:sp>
      <p:sp>
        <p:nvSpPr>
          <p:cNvPr id="3" name="TextBox 2"/>
          <p:cNvSpPr txBox="1"/>
          <p:nvPr/>
        </p:nvSpPr>
        <p:spPr>
          <a:xfrm>
            <a:off x="685800" y="1069848"/>
            <a:ext cx="10820095" cy="347472"/>
          </a:xfrm>
          <a:prstGeom prst="rect">
            <a:avLst/>
          </a:prstGeom>
          <a:noFill/>
        </p:spPr>
        <p:txBody>
          <a:bodyPr wrap="square">
            <a:spAutoFit/>
          </a:bodyPr>
          <a:lstStyle/>
          <a:p>
            <a:pPr algn="l"/>
            <a:r>
              <a:rPr sz="1400" b="0" i="1">
                <a:solidFill>
                  <a:srgbClr val="64748B"/>
                </a:solidFill>
                <a:latin typeface="Inter"/>
              </a:rPr>
              <a:t>Honest failure beats fake success.</a:t>
            </a:r>
          </a:p>
        </p:txBody>
      </p:sp>
      <p:sp>
        <p:nvSpPr>
          <p:cNvPr id="4" name="Rectangle 3"/>
          <p:cNvSpPr/>
          <p:nvPr/>
        </p:nvSpPr>
        <p:spPr>
          <a:xfrm>
            <a:off x="685800" y="1453896"/>
            <a:ext cx="10820095" cy="1905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1764792"/>
            <a:ext cx="5272887" cy="1188720"/>
          </a:xfrm>
          <a:prstGeom prst="rect">
            <a:avLst/>
          </a:prstGeom>
          <a:solidFill>
            <a:srgbClr val="F1F5F9"/>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901952"/>
            <a:ext cx="4907127" cy="347472"/>
          </a:xfrm>
          <a:prstGeom prst="rect">
            <a:avLst/>
          </a:prstGeom>
          <a:noFill/>
        </p:spPr>
        <p:txBody>
          <a:bodyPr wrap="square">
            <a:spAutoFit/>
          </a:bodyPr>
          <a:lstStyle/>
          <a:p>
            <a:pPr algn="l"/>
            <a:r>
              <a:rPr sz="1300" b="1" i="0">
                <a:solidFill>
                  <a:srgbClr val="0F172A"/>
                </a:solidFill>
                <a:latin typeface="Inter"/>
              </a:rPr>
              <a:t>Low-confidence OCR</a:t>
            </a:r>
          </a:p>
        </p:txBody>
      </p:sp>
      <p:sp>
        <p:nvSpPr>
          <p:cNvPr id="7" name="TextBox 6"/>
          <p:cNvSpPr txBox="1"/>
          <p:nvPr/>
        </p:nvSpPr>
        <p:spPr>
          <a:xfrm>
            <a:off x="868680" y="2267712"/>
            <a:ext cx="4907127" cy="548640"/>
          </a:xfrm>
          <a:prstGeom prst="rect">
            <a:avLst/>
          </a:prstGeom>
          <a:noFill/>
        </p:spPr>
        <p:txBody>
          <a:bodyPr wrap="square">
            <a:spAutoFit/>
          </a:bodyPr>
          <a:lstStyle/>
          <a:p>
            <a:pPr algn="l"/>
            <a:r>
              <a:rPr sz="1200" b="0" i="0">
                <a:solidFill>
                  <a:srgbClr val="64748B"/>
                </a:solidFill>
                <a:latin typeface="Inter"/>
              </a:rPr>
              <a:t>Flagged for review — never silently accepted</a:t>
            </a:r>
          </a:p>
        </p:txBody>
      </p:sp>
      <p:sp>
        <p:nvSpPr>
          <p:cNvPr id="8" name="Rectangle 7"/>
          <p:cNvSpPr/>
          <p:nvPr/>
        </p:nvSpPr>
        <p:spPr>
          <a:xfrm>
            <a:off x="6233007" y="1764792"/>
            <a:ext cx="5272887" cy="1188720"/>
          </a:xfrm>
          <a:prstGeom prst="rect">
            <a:avLst/>
          </a:prstGeom>
          <a:solidFill>
            <a:srgbClr val="F1F5F9"/>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15887" y="1901952"/>
            <a:ext cx="4907127" cy="347472"/>
          </a:xfrm>
          <a:prstGeom prst="rect">
            <a:avLst/>
          </a:prstGeom>
          <a:noFill/>
        </p:spPr>
        <p:txBody>
          <a:bodyPr wrap="square">
            <a:spAutoFit/>
          </a:bodyPr>
          <a:lstStyle/>
          <a:p>
            <a:pPr algn="l"/>
            <a:r>
              <a:rPr sz="1300" b="1" i="0">
                <a:solidFill>
                  <a:srgbClr val="0F172A"/>
                </a:solidFill>
                <a:latin typeface="Inter"/>
              </a:rPr>
              <a:t>Ambiguous term</a:t>
            </a:r>
          </a:p>
        </p:txBody>
      </p:sp>
      <p:sp>
        <p:nvSpPr>
          <p:cNvPr id="10" name="TextBox 9"/>
          <p:cNvSpPr txBox="1"/>
          <p:nvPr/>
        </p:nvSpPr>
        <p:spPr>
          <a:xfrm>
            <a:off x="6415887" y="2267712"/>
            <a:ext cx="4907127" cy="548640"/>
          </a:xfrm>
          <a:prstGeom prst="rect">
            <a:avLst/>
          </a:prstGeom>
          <a:noFill/>
        </p:spPr>
        <p:txBody>
          <a:bodyPr wrap="square">
            <a:spAutoFit/>
          </a:bodyPr>
          <a:lstStyle/>
          <a:p>
            <a:pPr algn="l"/>
            <a:r>
              <a:rPr sz="1200" b="0" i="0">
                <a:solidFill>
                  <a:srgbClr val="64748B"/>
                </a:solidFill>
                <a:latin typeface="Inter"/>
              </a:rPr>
              <a:t>Disambiguation chips — user picks the meaning</a:t>
            </a:r>
          </a:p>
        </p:txBody>
      </p:sp>
      <p:sp>
        <p:nvSpPr>
          <p:cNvPr id="11" name="Rectangle 10"/>
          <p:cNvSpPr/>
          <p:nvPr/>
        </p:nvSpPr>
        <p:spPr>
          <a:xfrm>
            <a:off x="685800" y="3090672"/>
            <a:ext cx="5272887" cy="1188720"/>
          </a:xfrm>
          <a:prstGeom prst="rect">
            <a:avLst/>
          </a:prstGeom>
          <a:solidFill>
            <a:srgbClr val="F1F5F9"/>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3227832"/>
            <a:ext cx="4907127" cy="347472"/>
          </a:xfrm>
          <a:prstGeom prst="rect">
            <a:avLst/>
          </a:prstGeom>
          <a:noFill/>
        </p:spPr>
        <p:txBody>
          <a:bodyPr wrap="square">
            <a:spAutoFit/>
          </a:bodyPr>
          <a:lstStyle/>
          <a:p>
            <a:pPr algn="l"/>
            <a:r>
              <a:rPr sz="1300" b="1" i="0">
                <a:solidFill>
                  <a:srgbClr val="0F172A"/>
                </a:solidFill>
                <a:latin typeface="Inter"/>
              </a:rPr>
              <a:t>Conflicting sources</a:t>
            </a:r>
          </a:p>
        </p:txBody>
      </p:sp>
      <p:sp>
        <p:nvSpPr>
          <p:cNvPr id="13" name="TextBox 12"/>
          <p:cNvSpPr txBox="1"/>
          <p:nvPr/>
        </p:nvSpPr>
        <p:spPr>
          <a:xfrm>
            <a:off x="868680" y="3593592"/>
            <a:ext cx="4907127" cy="548640"/>
          </a:xfrm>
          <a:prstGeom prst="rect">
            <a:avLst/>
          </a:prstGeom>
          <a:noFill/>
        </p:spPr>
        <p:txBody>
          <a:bodyPr wrap="square">
            <a:spAutoFit/>
          </a:bodyPr>
          <a:lstStyle/>
          <a:p>
            <a:pPr algn="l"/>
            <a:r>
              <a:rPr sz="1200" b="0" i="0">
                <a:solidFill>
                  <a:srgbClr val="64748B"/>
                </a:solidFill>
                <a:latin typeface="Inter"/>
              </a:rPr>
              <a:t>Both shown side-by-side — never averaged away</a:t>
            </a:r>
          </a:p>
        </p:txBody>
      </p:sp>
      <p:sp>
        <p:nvSpPr>
          <p:cNvPr id="14" name="Rectangle 13"/>
          <p:cNvSpPr/>
          <p:nvPr/>
        </p:nvSpPr>
        <p:spPr>
          <a:xfrm>
            <a:off x="6233007" y="3090672"/>
            <a:ext cx="5272887" cy="1188720"/>
          </a:xfrm>
          <a:prstGeom prst="rect">
            <a:avLst/>
          </a:prstGeom>
          <a:solidFill>
            <a:srgbClr val="F1F5F9"/>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15887" y="3227832"/>
            <a:ext cx="4907127" cy="347472"/>
          </a:xfrm>
          <a:prstGeom prst="rect">
            <a:avLst/>
          </a:prstGeom>
          <a:noFill/>
        </p:spPr>
        <p:txBody>
          <a:bodyPr wrap="square">
            <a:spAutoFit/>
          </a:bodyPr>
          <a:lstStyle/>
          <a:p>
            <a:pPr algn="l"/>
            <a:r>
              <a:rPr sz="1300" b="1" i="0">
                <a:solidFill>
                  <a:srgbClr val="0F172A"/>
                </a:solidFill>
                <a:latin typeface="Inter"/>
              </a:rPr>
              <a:t>RBAC partial denial</a:t>
            </a:r>
          </a:p>
        </p:txBody>
      </p:sp>
      <p:sp>
        <p:nvSpPr>
          <p:cNvPr id="16" name="TextBox 15"/>
          <p:cNvSpPr txBox="1"/>
          <p:nvPr/>
        </p:nvSpPr>
        <p:spPr>
          <a:xfrm>
            <a:off x="6415887" y="3593592"/>
            <a:ext cx="4907127" cy="548640"/>
          </a:xfrm>
          <a:prstGeom prst="rect">
            <a:avLst/>
          </a:prstGeom>
          <a:noFill/>
        </p:spPr>
        <p:txBody>
          <a:bodyPr wrap="square">
            <a:spAutoFit/>
          </a:bodyPr>
          <a:lstStyle/>
          <a:p>
            <a:pPr algn="l"/>
            <a:r>
              <a:rPr sz="1200" b="0" i="0">
                <a:solidFill>
                  <a:srgbClr val="64748B"/>
                </a:solidFill>
                <a:latin typeface="Inter"/>
              </a:rPr>
              <a:t>Answer from what user can see — warning shows the gap</a:t>
            </a:r>
          </a:p>
        </p:txBody>
      </p:sp>
      <p:sp>
        <p:nvSpPr>
          <p:cNvPr id="17" name="Rectangle 16"/>
          <p:cNvSpPr/>
          <p:nvPr/>
        </p:nvSpPr>
        <p:spPr>
          <a:xfrm>
            <a:off x="685800" y="4416552"/>
            <a:ext cx="5272887" cy="1188720"/>
          </a:xfrm>
          <a:prstGeom prst="rect">
            <a:avLst/>
          </a:prstGeom>
          <a:solidFill>
            <a:srgbClr val="F1F5F9"/>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4553712"/>
            <a:ext cx="4907127" cy="347472"/>
          </a:xfrm>
          <a:prstGeom prst="rect">
            <a:avLst/>
          </a:prstGeom>
          <a:noFill/>
        </p:spPr>
        <p:txBody>
          <a:bodyPr wrap="square">
            <a:spAutoFit/>
          </a:bodyPr>
          <a:lstStyle/>
          <a:p>
            <a:pPr algn="l"/>
            <a:r>
              <a:rPr sz="1300" b="1" i="0">
                <a:solidFill>
                  <a:srgbClr val="0F172A"/>
                </a:solidFill>
                <a:latin typeface="Inter"/>
              </a:rPr>
              <a:t>Sensitive data in query</a:t>
            </a:r>
          </a:p>
        </p:txBody>
      </p:sp>
      <p:sp>
        <p:nvSpPr>
          <p:cNvPr id="19" name="TextBox 18"/>
          <p:cNvSpPr txBox="1"/>
          <p:nvPr/>
        </p:nvSpPr>
        <p:spPr>
          <a:xfrm>
            <a:off x="868680" y="4919472"/>
            <a:ext cx="4907127" cy="548640"/>
          </a:xfrm>
          <a:prstGeom prst="rect">
            <a:avLst/>
          </a:prstGeom>
          <a:noFill/>
        </p:spPr>
        <p:txBody>
          <a:bodyPr wrap="square">
            <a:spAutoFit/>
          </a:bodyPr>
          <a:lstStyle/>
          <a:p>
            <a:pPr algn="l"/>
            <a:r>
              <a:rPr sz="1200" b="0" i="0">
                <a:solidFill>
                  <a:srgbClr val="64748B"/>
                </a:solidFill>
                <a:latin typeface="Inter"/>
              </a:rPr>
              <a:t>Blocked per customer policy — never logged raw</a:t>
            </a:r>
          </a:p>
        </p:txBody>
      </p:sp>
      <p:sp>
        <p:nvSpPr>
          <p:cNvPr id="20" name="Rectangle 19"/>
          <p:cNvSpPr/>
          <p:nvPr/>
        </p:nvSpPr>
        <p:spPr>
          <a:xfrm>
            <a:off x="6233007" y="4416552"/>
            <a:ext cx="5272887" cy="1188720"/>
          </a:xfrm>
          <a:prstGeom prst="rect">
            <a:avLst/>
          </a:prstGeom>
          <a:solidFill>
            <a:srgbClr val="F1F5F9"/>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15887" y="4553712"/>
            <a:ext cx="4907127" cy="347472"/>
          </a:xfrm>
          <a:prstGeom prst="rect">
            <a:avLst/>
          </a:prstGeom>
          <a:noFill/>
        </p:spPr>
        <p:txBody>
          <a:bodyPr wrap="square">
            <a:spAutoFit/>
          </a:bodyPr>
          <a:lstStyle/>
          <a:p>
            <a:pPr algn="l"/>
            <a:r>
              <a:rPr sz="1300" b="1" i="0">
                <a:solidFill>
                  <a:srgbClr val="0F172A"/>
                </a:solidFill>
                <a:latin typeface="Inter"/>
              </a:rPr>
              <a:t>Stale cache after update</a:t>
            </a:r>
          </a:p>
        </p:txBody>
      </p:sp>
      <p:sp>
        <p:nvSpPr>
          <p:cNvPr id="22" name="TextBox 21"/>
          <p:cNvSpPr txBox="1"/>
          <p:nvPr/>
        </p:nvSpPr>
        <p:spPr>
          <a:xfrm>
            <a:off x="6415887" y="4919472"/>
            <a:ext cx="4907127" cy="548640"/>
          </a:xfrm>
          <a:prstGeom prst="rect">
            <a:avLst/>
          </a:prstGeom>
          <a:noFill/>
        </p:spPr>
        <p:txBody>
          <a:bodyPr wrap="square">
            <a:spAutoFit/>
          </a:bodyPr>
          <a:lstStyle/>
          <a:p>
            <a:pPr algn="l"/>
            <a:r>
              <a:rPr sz="1200" b="0" i="0">
                <a:solidFill>
                  <a:srgbClr val="64748B"/>
                </a:solidFill>
                <a:latin typeface="Inter"/>
              </a:rPr>
              <a:t>CDC event re-ingests AND invalidates cache — one mechanism, two jobs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10820095" cy="566928"/>
          </a:xfrm>
          <a:prstGeom prst="rect">
            <a:avLst/>
          </a:prstGeom>
          <a:noFill/>
        </p:spPr>
        <p:txBody>
          <a:bodyPr wrap="square">
            <a:spAutoFit/>
          </a:bodyPr>
          <a:lstStyle/>
          <a:p>
            <a:pPr algn="l"/>
            <a:r>
              <a:rPr sz="2600" b="1" i="0">
                <a:solidFill>
                  <a:srgbClr val="0F172A"/>
                </a:solidFill>
                <a:latin typeface="Inter"/>
              </a:rPr>
              <a:t>How we know it worked</a:t>
            </a:r>
          </a:p>
        </p:txBody>
      </p:sp>
      <p:sp>
        <p:nvSpPr>
          <p:cNvPr id="3" name="TextBox 2"/>
          <p:cNvSpPr txBox="1"/>
          <p:nvPr/>
        </p:nvSpPr>
        <p:spPr>
          <a:xfrm>
            <a:off x="685800" y="1069848"/>
            <a:ext cx="10820095" cy="347472"/>
          </a:xfrm>
          <a:prstGeom prst="rect">
            <a:avLst/>
          </a:prstGeom>
          <a:noFill/>
        </p:spPr>
        <p:txBody>
          <a:bodyPr wrap="square">
            <a:spAutoFit/>
          </a:bodyPr>
          <a:lstStyle/>
          <a:p>
            <a:pPr algn="l"/>
            <a:r>
              <a:rPr sz="1400" b="0" i="1">
                <a:solidFill>
                  <a:srgbClr val="64748B"/>
                </a:solidFill>
                <a:latin typeface="Inter"/>
              </a:rPr>
              <a:t>North star. Secondary. Guardrails.</a:t>
            </a:r>
          </a:p>
        </p:txBody>
      </p:sp>
      <p:sp>
        <p:nvSpPr>
          <p:cNvPr id="4" name="Rectangle 3"/>
          <p:cNvSpPr/>
          <p:nvPr/>
        </p:nvSpPr>
        <p:spPr>
          <a:xfrm>
            <a:off x="685800" y="1453896"/>
            <a:ext cx="10820095" cy="1905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1764792"/>
            <a:ext cx="109728" cy="109728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56232"/>
            <a:ext cx="2164019" cy="347472"/>
          </a:xfrm>
          <a:prstGeom prst="rect">
            <a:avLst/>
          </a:prstGeom>
          <a:noFill/>
        </p:spPr>
        <p:txBody>
          <a:bodyPr wrap="square">
            <a:spAutoFit/>
          </a:bodyPr>
          <a:lstStyle/>
          <a:p>
            <a:pPr algn="l"/>
            <a:r>
              <a:rPr sz="1500" b="1" i="0">
                <a:solidFill>
                  <a:srgbClr val="16A34A"/>
                </a:solidFill>
                <a:latin typeface="Inter"/>
              </a:rPr>
              <a:t>North star</a:t>
            </a:r>
          </a:p>
        </p:txBody>
      </p:sp>
      <p:sp>
        <p:nvSpPr>
          <p:cNvPr id="7" name="TextBox 6"/>
          <p:cNvSpPr txBox="1"/>
          <p:nvPr/>
        </p:nvSpPr>
        <p:spPr>
          <a:xfrm>
            <a:off x="914400" y="2203704"/>
            <a:ext cx="10454335" cy="457200"/>
          </a:xfrm>
          <a:prstGeom prst="rect">
            <a:avLst/>
          </a:prstGeom>
          <a:noFill/>
        </p:spPr>
        <p:txBody>
          <a:bodyPr wrap="square">
            <a:spAutoFit/>
          </a:bodyPr>
          <a:lstStyle/>
          <a:p>
            <a:pPr algn="l"/>
            <a:r>
              <a:rPr sz="1200" b="1" i="0">
                <a:solidFill>
                  <a:srgbClr val="0F172A"/>
                </a:solidFill>
                <a:latin typeface="Inter"/>
              </a:rPr>
              <a:t>Grounded-answer rate ≥ 95%</a:t>
            </a:r>
          </a:p>
        </p:txBody>
      </p:sp>
      <p:sp>
        <p:nvSpPr>
          <p:cNvPr id="8" name="TextBox 7"/>
          <p:cNvSpPr txBox="1"/>
          <p:nvPr/>
        </p:nvSpPr>
        <p:spPr>
          <a:xfrm>
            <a:off x="3066220" y="1874520"/>
            <a:ext cx="8115071" cy="320040"/>
          </a:xfrm>
          <a:prstGeom prst="rect">
            <a:avLst/>
          </a:prstGeom>
          <a:noFill/>
        </p:spPr>
        <p:txBody>
          <a:bodyPr wrap="square">
            <a:spAutoFit/>
          </a:bodyPr>
          <a:lstStyle/>
          <a:p>
            <a:pPr algn="l"/>
            <a:r>
              <a:rPr sz="1200" b="0" i="1">
                <a:solidFill>
                  <a:srgbClr val="64748B"/>
                </a:solidFill>
                <a:latin typeface="Inter"/>
              </a:rPr>
              <a:t>Does every claim trace back to a source? That's the promise.</a:t>
            </a:r>
          </a:p>
        </p:txBody>
      </p:sp>
      <p:sp>
        <p:nvSpPr>
          <p:cNvPr id="9" name="Rectangle 8"/>
          <p:cNvSpPr/>
          <p:nvPr/>
        </p:nvSpPr>
        <p:spPr>
          <a:xfrm>
            <a:off x="685800" y="2971800"/>
            <a:ext cx="109728" cy="12801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063240"/>
            <a:ext cx="2164019" cy="347472"/>
          </a:xfrm>
          <a:prstGeom prst="rect">
            <a:avLst/>
          </a:prstGeom>
          <a:noFill/>
        </p:spPr>
        <p:txBody>
          <a:bodyPr wrap="square">
            <a:spAutoFit/>
          </a:bodyPr>
          <a:lstStyle/>
          <a:p>
            <a:pPr algn="l"/>
            <a:r>
              <a:rPr sz="1500" b="1" i="0">
                <a:solidFill>
                  <a:srgbClr val="2563EB"/>
                </a:solidFill>
                <a:latin typeface="Inter"/>
              </a:rPr>
              <a:t>Secondary</a:t>
            </a:r>
          </a:p>
        </p:txBody>
      </p:sp>
      <p:sp>
        <p:nvSpPr>
          <p:cNvPr id="11" name="TextBox 10"/>
          <p:cNvSpPr txBox="1"/>
          <p:nvPr/>
        </p:nvSpPr>
        <p:spPr>
          <a:xfrm>
            <a:off x="914400" y="3410712"/>
            <a:ext cx="10454335" cy="457200"/>
          </a:xfrm>
          <a:prstGeom prst="rect">
            <a:avLst/>
          </a:prstGeom>
          <a:noFill/>
        </p:spPr>
        <p:txBody>
          <a:bodyPr wrap="square">
            <a:spAutoFit/>
          </a:bodyPr>
          <a:lstStyle/>
          <a:p>
            <a:pPr algn="l"/>
            <a:r>
              <a:rPr sz="1200" b="1" i="0">
                <a:solidFill>
                  <a:srgbClr val="0F172A"/>
                </a:solidFill>
                <a:latin typeface="Inter"/>
              </a:rPr>
              <a:t>Term accuracy ≥ 90%  ·  WAU growing  ·  TTV &lt; 10 min  ·  👍/👎 ≥ 85%  ·  hours saved ≥ 5/user/week</a:t>
            </a:r>
          </a:p>
        </p:txBody>
      </p:sp>
      <p:sp>
        <p:nvSpPr>
          <p:cNvPr id="12" name="TextBox 11"/>
          <p:cNvSpPr txBox="1"/>
          <p:nvPr/>
        </p:nvSpPr>
        <p:spPr>
          <a:xfrm>
            <a:off x="3066220" y="3081528"/>
            <a:ext cx="8115071" cy="320040"/>
          </a:xfrm>
          <a:prstGeom prst="rect">
            <a:avLst/>
          </a:prstGeom>
          <a:noFill/>
        </p:spPr>
        <p:txBody>
          <a:bodyPr wrap="square">
            <a:spAutoFit/>
          </a:bodyPr>
          <a:lstStyle/>
          <a:p>
            <a:pPr algn="l"/>
            <a:r>
              <a:rPr sz="1200" b="0" i="1">
                <a:solidFill>
                  <a:srgbClr val="64748B"/>
                </a:solidFill>
                <a:latin typeface="Inter"/>
              </a:rPr>
              <a:t>Is it adopted and valued?</a:t>
            </a:r>
          </a:p>
        </p:txBody>
      </p:sp>
      <p:sp>
        <p:nvSpPr>
          <p:cNvPr id="13" name="Rectangle 12"/>
          <p:cNvSpPr/>
          <p:nvPr/>
        </p:nvSpPr>
        <p:spPr>
          <a:xfrm>
            <a:off x="685800" y="4361688"/>
            <a:ext cx="109728" cy="137160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4453128"/>
            <a:ext cx="2164019" cy="347472"/>
          </a:xfrm>
          <a:prstGeom prst="rect">
            <a:avLst/>
          </a:prstGeom>
          <a:noFill/>
        </p:spPr>
        <p:txBody>
          <a:bodyPr wrap="square">
            <a:spAutoFit/>
          </a:bodyPr>
          <a:lstStyle/>
          <a:p>
            <a:pPr algn="l"/>
            <a:r>
              <a:rPr sz="1500" b="1" i="0">
                <a:solidFill>
                  <a:srgbClr val="D97706"/>
                </a:solidFill>
                <a:latin typeface="Inter"/>
              </a:rPr>
              <a:t>Guardrails</a:t>
            </a:r>
          </a:p>
        </p:txBody>
      </p:sp>
      <p:sp>
        <p:nvSpPr>
          <p:cNvPr id="15" name="TextBox 14"/>
          <p:cNvSpPr txBox="1"/>
          <p:nvPr/>
        </p:nvSpPr>
        <p:spPr>
          <a:xfrm>
            <a:off x="914400" y="4800600"/>
            <a:ext cx="10454335" cy="457200"/>
          </a:xfrm>
          <a:prstGeom prst="rect">
            <a:avLst/>
          </a:prstGeom>
          <a:noFill/>
        </p:spPr>
        <p:txBody>
          <a:bodyPr wrap="square">
            <a:spAutoFit/>
          </a:bodyPr>
          <a:lstStyle/>
          <a:p>
            <a:pPr algn="l"/>
            <a:r>
              <a:rPr sz="1200" b="1" i="0">
                <a:solidFill>
                  <a:srgbClr val="0F172A"/>
                </a:solidFill>
                <a:latin typeface="Inter"/>
              </a:rPr>
              <a:t>Hallucination rate &lt; 2%  ·  p50 &lt; 2s / p95 &lt; 4s  ·  edit-rate falls  ·  bias scores stable  ·  cost/query within budget</a:t>
            </a:r>
          </a:p>
        </p:txBody>
      </p:sp>
      <p:sp>
        <p:nvSpPr>
          <p:cNvPr id="16" name="TextBox 15"/>
          <p:cNvSpPr txBox="1"/>
          <p:nvPr/>
        </p:nvSpPr>
        <p:spPr>
          <a:xfrm>
            <a:off x="3066220" y="4471416"/>
            <a:ext cx="8115071" cy="320040"/>
          </a:xfrm>
          <a:prstGeom prst="rect">
            <a:avLst/>
          </a:prstGeom>
          <a:noFill/>
        </p:spPr>
        <p:txBody>
          <a:bodyPr wrap="square">
            <a:spAutoFit/>
          </a:bodyPr>
          <a:lstStyle/>
          <a:p>
            <a:pPr algn="l"/>
            <a:r>
              <a:rPr sz="1200" b="0" i="1">
                <a:solidFill>
                  <a:srgbClr val="64748B"/>
                </a:solidFill>
                <a:latin typeface="Inter"/>
              </a:rPr>
              <a:t>Catch regressions before they compound.</a:t>
            </a:r>
          </a:p>
        </p:txBody>
      </p:sp>
      <p:sp>
        <p:nvSpPr>
          <p:cNvPr id="17" name="TextBox 16"/>
          <p:cNvSpPr txBox="1"/>
          <p:nvPr/>
        </p:nvSpPr>
        <p:spPr>
          <a:xfrm>
            <a:off x="685800" y="5980176"/>
            <a:ext cx="10820095" cy="502920"/>
          </a:xfrm>
          <a:prstGeom prst="rect">
            <a:avLst/>
          </a:prstGeom>
          <a:noFill/>
        </p:spPr>
        <p:txBody>
          <a:bodyPr wrap="square">
            <a:spAutoFit/>
          </a:bodyPr>
          <a:lstStyle/>
          <a:p>
            <a:pPr algn="ctr"/>
            <a:r>
              <a:rPr sz="1700" b="0" i="1">
                <a:solidFill>
                  <a:srgbClr val="0F172A"/>
                </a:solidFill>
                <a:latin typeface="Inter"/>
              </a:rPr>
              <a:t>The clearest trust signal: users edit the output less, and click citations more.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10820095" cy="566928"/>
          </a:xfrm>
          <a:prstGeom prst="rect">
            <a:avLst/>
          </a:prstGeom>
          <a:noFill/>
        </p:spPr>
        <p:txBody>
          <a:bodyPr wrap="square">
            <a:spAutoFit/>
          </a:bodyPr>
          <a:lstStyle/>
          <a:p>
            <a:pPr algn="l"/>
            <a:r>
              <a:rPr sz="2600" b="1" i="0">
                <a:solidFill>
                  <a:srgbClr val="0F172A"/>
                </a:solidFill>
                <a:latin typeface="Inter"/>
              </a:rPr>
              <a:t>Rollout</a:t>
            </a:r>
          </a:p>
        </p:txBody>
      </p:sp>
      <p:sp>
        <p:nvSpPr>
          <p:cNvPr id="3" name="TextBox 2"/>
          <p:cNvSpPr txBox="1"/>
          <p:nvPr/>
        </p:nvSpPr>
        <p:spPr>
          <a:xfrm>
            <a:off x="685800" y="1069848"/>
            <a:ext cx="10820095" cy="347472"/>
          </a:xfrm>
          <a:prstGeom prst="rect">
            <a:avLst/>
          </a:prstGeom>
          <a:noFill/>
        </p:spPr>
        <p:txBody>
          <a:bodyPr wrap="square">
            <a:spAutoFit/>
          </a:bodyPr>
          <a:lstStyle/>
          <a:p>
            <a:pPr algn="l"/>
            <a:r>
              <a:rPr sz="1400" b="0" i="1">
                <a:solidFill>
                  <a:srgbClr val="64748B"/>
                </a:solidFill>
                <a:latin typeface="Inter"/>
              </a:rPr>
              <a:t>Four stages. We promote on quality, not calendar.</a:t>
            </a:r>
          </a:p>
        </p:txBody>
      </p:sp>
      <p:sp>
        <p:nvSpPr>
          <p:cNvPr id="4" name="Rectangle 3"/>
          <p:cNvSpPr/>
          <p:nvPr/>
        </p:nvSpPr>
        <p:spPr>
          <a:xfrm>
            <a:off x="685800" y="1453896"/>
            <a:ext cx="10820095" cy="1905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1901952"/>
            <a:ext cx="2602153" cy="2194560"/>
          </a:xfrm>
          <a:prstGeom prst="rect">
            <a:avLst/>
          </a:prstGeom>
          <a:solidFill>
            <a:srgbClr val="DBEAFE"/>
          </a:solidFill>
          <a:ln w="9525">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2066544"/>
            <a:ext cx="320040" cy="320040"/>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Inter"/>
              </a:rPr>
              <a:t>1</a:t>
            </a:r>
          </a:p>
        </p:txBody>
      </p:sp>
      <p:sp>
        <p:nvSpPr>
          <p:cNvPr id="7" name="TextBox 6"/>
          <p:cNvSpPr txBox="1"/>
          <p:nvPr/>
        </p:nvSpPr>
        <p:spPr>
          <a:xfrm>
            <a:off x="1280160" y="2084832"/>
            <a:ext cx="1870633" cy="411480"/>
          </a:xfrm>
          <a:prstGeom prst="rect">
            <a:avLst/>
          </a:prstGeom>
          <a:noFill/>
        </p:spPr>
        <p:txBody>
          <a:bodyPr wrap="square">
            <a:spAutoFit/>
          </a:bodyPr>
          <a:lstStyle/>
          <a:p>
            <a:pPr algn="l"/>
            <a:r>
              <a:rPr sz="1300" b="1" i="0">
                <a:solidFill>
                  <a:srgbClr val="2563EB"/>
                </a:solidFill>
                <a:latin typeface="Inter"/>
              </a:rPr>
              <a:t>Closed Alpha</a:t>
            </a:r>
          </a:p>
        </p:txBody>
      </p:sp>
      <p:sp>
        <p:nvSpPr>
          <p:cNvPr id="8" name="TextBox 7"/>
          <p:cNvSpPr txBox="1"/>
          <p:nvPr/>
        </p:nvSpPr>
        <p:spPr>
          <a:xfrm>
            <a:off x="868680" y="2542032"/>
            <a:ext cx="2236393" cy="1417320"/>
          </a:xfrm>
          <a:prstGeom prst="rect">
            <a:avLst/>
          </a:prstGeom>
          <a:noFill/>
        </p:spPr>
        <p:txBody>
          <a:bodyPr wrap="square">
            <a:spAutoFit/>
          </a:bodyPr>
          <a:lstStyle/>
          <a:p>
            <a:pPr algn="l"/>
            <a:r>
              <a:rPr sz="1150" b="0" i="0">
                <a:solidFill>
                  <a:srgbClr val="0F172A"/>
                </a:solidFill>
                <a:latin typeface="Inter"/>
              </a:rPr>
              <a:t>Solutions + design partners. Single domain.
Prove technical feasibility.</a:t>
            </a:r>
          </a:p>
        </p:txBody>
      </p:sp>
      <p:sp>
        <p:nvSpPr>
          <p:cNvPr id="9" name="Rectangle 8"/>
          <p:cNvSpPr/>
          <p:nvPr/>
        </p:nvSpPr>
        <p:spPr>
          <a:xfrm>
            <a:off x="3324529" y="2948432"/>
            <a:ext cx="91440" cy="101600"/>
          </a:xfrm>
          <a:prstGeom prst="rect">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425113" y="1901952"/>
            <a:ext cx="2602153" cy="2194560"/>
          </a:xfrm>
          <a:prstGeom prst="rect">
            <a:avLst/>
          </a:prstGeom>
          <a:solidFill>
            <a:srgbClr val="F1F5F9"/>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607993" y="2066544"/>
            <a:ext cx="320040" cy="320040"/>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Inter"/>
              </a:rPr>
              <a:t>2</a:t>
            </a:r>
          </a:p>
        </p:txBody>
      </p:sp>
      <p:sp>
        <p:nvSpPr>
          <p:cNvPr id="12" name="TextBox 11"/>
          <p:cNvSpPr txBox="1"/>
          <p:nvPr/>
        </p:nvSpPr>
        <p:spPr>
          <a:xfrm>
            <a:off x="4019473" y="2084832"/>
            <a:ext cx="1870633" cy="411480"/>
          </a:xfrm>
          <a:prstGeom prst="rect">
            <a:avLst/>
          </a:prstGeom>
          <a:noFill/>
        </p:spPr>
        <p:txBody>
          <a:bodyPr wrap="square">
            <a:spAutoFit/>
          </a:bodyPr>
          <a:lstStyle/>
          <a:p>
            <a:pPr algn="l"/>
            <a:r>
              <a:rPr sz="1300" b="1" i="0">
                <a:solidFill>
                  <a:srgbClr val="0F172A"/>
                </a:solidFill>
                <a:latin typeface="Inter"/>
              </a:rPr>
              <a:t>Beta — MVP</a:t>
            </a:r>
          </a:p>
        </p:txBody>
      </p:sp>
      <p:sp>
        <p:nvSpPr>
          <p:cNvPr id="13" name="TextBox 12"/>
          <p:cNvSpPr txBox="1"/>
          <p:nvPr/>
        </p:nvSpPr>
        <p:spPr>
          <a:xfrm>
            <a:off x="3607993" y="2542032"/>
            <a:ext cx="2236393" cy="1417320"/>
          </a:xfrm>
          <a:prstGeom prst="rect">
            <a:avLst/>
          </a:prstGeom>
          <a:noFill/>
        </p:spPr>
        <p:txBody>
          <a:bodyPr wrap="square">
            <a:spAutoFit/>
          </a:bodyPr>
          <a:lstStyle/>
          <a:p>
            <a:pPr algn="l"/>
            <a:r>
              <a:rPr sz="1150" b="0" i="0">
                <a:solidFill>
                  <a:srgbClr val="0F172A"/>
                </a:solidFill>
                <a:latin typeface="Inter"/>
              </a:rPr>
              <a:t>Financial. Term + cited Q&amp;A + summaries.
Real users, real feedback.</a:t>
            </a:r>
          </a:p>
        </p:txBody>
      </p:sp>
      <p:sp>
        <p:nvSpPr>
          <p:cNvPr id="14" name="Rectangle 13"/>
          <p:cNvSpPr/>
          <p:nvPr/>
        </p:nvSpPr>
        <p:spPr>
          <a:xfrm>
            <a:off x="6063843" y="2948432"/>
            <a:ext cx="91440" cy="101600"/>
          </a:xfrm>
          <a:prstGeom prst="rect">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64427" y="1901952"/>
            <a:ext cx="2602153" cy="2194560"/>
          </a:xfrm>
          <a:prstGeom prst="rect">
            <a:avLst/>
          </a:prstGeom>
          <a:solidFill>
            <a:srgbClr val="F1F5F9"/>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347307" y="2066544"/>
            <a:ext cx="320040" cy="320040"/>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Inter"/>
              </a:rPr>
              <a:t>3</a:t>
            </a:r>
          </a:p>
        </p:txBody>
      </p:sp>
      <p:sp>
        <p:nvSpPr>
          <p:cNvPr id="17" name="TextBox 16"/>
          <p:cNvSpPr txBox="1"/>
          <p:nvPr/>
        </p:nvSpPr>
        <p:spPr>
          <a:xfrm>
            <a:off x="6758787" y="2084832"/>
            <a:ext cx="1870633" cy="411480"/>
          </a:xfrm>
          <a:prstGeom prst="rect">
            <a:avLst/>
          </a:prstGeom>
          <a:noFill/>
        </p:spPr>
        <p:txBody>
          <a:bodyPr wrap="square">
            <a:spAutoFit/>
          </a:bodyPr>
          <a:lstStyle/>
          <a:p>
            <a:pPr algn="l"/>
            <a:r>
              <a:rPr sz="1300" b="1" i="0">
                <a:solidFill>
                  <a:srgbClr val="0F172A"/>
                </a:solidFill>
                <a:latin typeface="Inter"/>
              </a:rPr>
              <a:t>Maturation</a:t>
            </a:r>
          </a:p>
        </p:txBody>
      </p:sp>
      <p:sp>
        <p:nvSpPr>
          <p:cNvPr id="18" name="TextBox 17"/>
          <p:cNvSpPr txBox="1"/>
          <p:nvPr/>
        </p:nvSpPr>
        <p:spPr>
          <a:xfrm>
            <a:off x="6347307" y="2542032"/>
            <a:ext cx="2236393" cy="1417320"/>
          </a:xfrm>
          <a:prstGeom prst="rect">
            <a:avLst/>
          </a:prstGeom>
          <a:noFill/>
        </p:spPr>
        <p:txBody>
          <a:bodyPr wrap="square">
            <a:spAutoFit/>
          </a:bodyPr>
          <a:lstStyle/>
          <a:p>
            <a:pPr algn="l"/>
            <a:r>
              <a:rPr sz="1150" b="0" i="0">
                <a:solidFill>
                  <a:srgbClr val="0F172A"/>
                </a:solidFill>
                <a:latin typeface="Inter"/>
              </a:rPr>
              <a:t>Add Legal. Cross-doc. API. Graph only where corpus justifies it.</a:t>
            </a:r>
          </a:p>
        </p:txBody>
      </p:sp>
      <p:sp>
        <p:nvSpPr>
          <p:cNvPr id="19" name="Rectangle 18"/>
          <p:cNvSpPr/>
          <p:nvPr/>
        </p:nvSpPr>
        <p:spPr>
          <a:xfrm>
            <a:off x="8803157" y="2948432"/>
            <a:ext cx="91440" cy="101600"/>
          </a:xfrm>
          <a:prstGeom prst="rect">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903741" y="1901952"/>
            <a:ext cx="2602153" cy="2194560"/>
          </a:xfrm>
          <a:prstGeom prst="rect">
            <a:avLst/>
          </a:prstGeom>
          <a:solidFill>
            <a:srgbClr val="F1F5F9"/>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086621" y="2066544"/>
            <a:ext cx="320040" cy="320040"/>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Inter"/>
              </a:rPr>
              <a:t>4</a:t>
            </a:r>
          </a:p>
        </p:txBody>
      </p:sp>
      <p:sp>
        <p:nvSpPr>
          <p:cNvPr id="22" name="TextBox 21"/>
          <p:cNvSpPr txBox="1"/>
          <p:nvPr/>
        </p:nvSpPr>
        <p:spPr>
          <a:xfrm>
            <a:off x="9498101" y="2084832"/>
            <a:ext cx="1870633" cy="411480"/>
          </a:xfrm>
          <a:prstGeom prst="rect">
            <a:avLst/>
          </a:prstGeom>
          <a:noFill/>
        </p:spPr>
        <p:txBody>
          <a:bodyPr wrap="square">
            <a:spAutoFit/>
          </a:bodyPr>
          <a:lstStyle/>
          <a:p>
            <a:pPr algn="l"/>
            <a:r>
              <a:rPr sz="1300" b="1" i="0">
                <a:solidFill>
                  <a:srgbClr val="0F172A"/>
                </a:solidFill>
                <a:latin typeface="Inter"/>
              </a:rPr>
              <a:t>GA — V1</a:t>
            </a:r>
          </a:p>
        </p:txBody>
      </p:sp>
      <p:sp>
        <p:nvSpPr>
          <p:cNvPr id="23" name="TextBox 22"/>
          <p:cNvSpPr txBox="1"/>
          <p:nvPr/>
        </p:nvSpPr>
        <p:spPr>
          <a:xfrm>
            <a:off x="9086621" y="2542032"/>
            <a:ext cx="2236393" cy="1417320"/>
          </a:xfrm>
          <a:prstGeom prst="rect">
            <a:avLst/>
          </a:prstGeom>
          <a:noFill/>
        </p:spPr>
        <p:txBody>
          <a:bodyPr wrap="square">
            <a:spAutoFit/>
          </a:bodyPr>
          <a:lstStyle/>
          <a:p>
            <a:pPr algn="l"/>
            <a:r>
              <a:rPr sz="1150" b="0" i="0">
                <a:solidFill>
                  <a:srgbClr val="0F172A"/>
                </a:solidFill>
                <a:latin typeface="Inter"/>
              </a:rPr>
              <a:t>Medical added last. Hardened. Full FinOps. NPS / CSAT.</a:t>
            </a:r>
          </a:p>
        </p:txBody>
      </p:sp>
      <p:sp>
        <p:nvSpPr>
          <p:cNvPr id="24" name="TextBox 23"/>
          <p:cNvSpPr txBox="1"/>
          <p:nvPr/>
        </p:nvSpPr>
        <p:spPr>
          <a:xfrm>
            <a:off x="685800" y="4325112"/>
            <a:ext cx="10820095" cy="411480"/>
          </a:xfrm>
          <a:prstGeom prst="rect">
            <a:avLst/>
          </a:prstGeom>
          <a:noFill/>
        </p:spPr>
        <p:txBody>
          <a:bodyPr wrap="square">
            <a:spAutoFit/>
          </a:bodyPr>
          <a:lstStyle/>
          <a:p>
            <a:pPr algn="ctr"/>
            <a:r>
              <a:rPr sz="1300" b="0" i="1">
                <a:solidFill>
                  <a:srgbClr val="64748B"/>
                </a:solidFill>
                <a:latin typeface="Inter"/>
              </a:rPr>
              <a:t>Feature flags everywhere  ·  Rollback by flag flip  ·  Build–Measure–Learn loop</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10820095" cy="566928"/>
          </a:xfrm>
          <a:prstGeom prst="rect">
            <a:avLst/>
          </a:prstGeom>
          <a:noFill/>
        </p:spPr>
        <p:txBody>
          <a:bodyPr wrap="square">
            <a:spAutoFit/>
          </a:bodyPr>
          <a:lstStyle/>
          <a:p>
            <a:pPr algn="l"/>
            <a:r>
              <a:rPr sz="2600" b="1" i="0">
                <a:solidFill>
                  <a:srgbClr val="0F172A"/>
                </a:solidFill>
                <a:latin typeface="Inter"/>
              </a:rPr>
              <a:t>What I deliberately did NOT build</a:t>
            </a:r>
          </a:p>
        </p:txBody>
      </p:sp>
      <p:sp>
        <p:nvSpPr>
          <p:cNvPr id="3" name="TextBox 2"/>
          <p:cNvSpPr txBox="1"/>
          <p:nvPr/>
        </p:nvSpPr>
        <p:spPr>
          <a:xfrm>
            <a:off x="685800" y="1069848"/>
            <a:ext cx="10820095" cy="347472"/>
          </a:xfrm>
          <a:prstGeom prst="rect">
            <a:avLst/>
          </a:prstGeom>
          <a:noFill/>
        </p:spPr>
        <p:txBody>
          <a:bodyPr wrap="square">
            <a:spAutoFit/>
          </a:bodyPr>
          <a:lstStyle/>
          <a:p>
            <a:pPr algn="l"/>
            <a:r>
              <a:rPr sz="1400" b="0" i="1">
                <a:solidFill>
                  <a:srgbClr val="64748B"/>
                </a:solidFill>
                <a:latin typeface="Inter"/>
              </a:rPr>
              <a:t>What I left out — and why.</a:t>
            </a:r>
          </a:p>
        </p:txBody>
      </p:sp>
      <p:sp>
        <p:nvSpPr>
          <p:cNvPr id="4" name="Rectangle 3"/>
          <p:cNvSpPr/>
          <p:nvPr/>
        </p:nvSpPr>
        <p:spPr>
          <a:xfrm>
            <a:off x="685800" y="1453896"/>
            <a:ext cx="10820095" cy="1905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1764792"/>
            <a:ext cx="5272887" cy="1508760"/>
          </a:xfrm>
          <a:prstGeom prst="rect">
            <a:avLst/>
          </a:prstGeom>
          <a:solidFill>
            <a:srgbClr val="F1F5F9"/>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901952"/>
            <a:ext cx="4907127" cy="347472"/>
          </a:xfrm>
          <a:prstGeom prst="rect">
            <a:avLst/>
          </a:prstGeom>
          <a:noFill/>
        </p:spPr>
        <p:txBody>
          <a:bodyPr wrap="square">
            <a:spAutoFit/>
          </a:bodyPr>
          <a:lstStyle/>
          <a:p>
            <a:pPr algn="l"/>
            <a:r>
              <a:rPr sz="1400" b="1" i="0">
                <a:solidFill>
                  <a:srgbClr val="0F172A"/>
                </a:solidFill>
                <a:latin typeface="Inter"/>
              </a:rPr>
              <a:t>✕  Hebbia-style Matrix grid</a:t>
            </a:r>
          </a:p>
        </p:txBody>
      </p:sp>
      <p:sp>
        <p:nvSpPr>
          <p:cNvPr id="7" name="TextBox 6"/>
          <p:cNvSpPr txBox="1"/>
          <p:nvPr/>
        </p:nvSpPr>
        <p:spPr>
          <a:xfrm>
            <a:off x="868680" y="2267712"/>
            <a:ext cx="4907127" cy="274320"/>
          </a:xfrm>
          <a:prstGeom prst="rect">
            <a:avLst/>
          </a:prstGeom>
          <a:noFill/>
        </p:spPr>
        <p:txBody>
          <a:bodyPr wrap="square">
            <a:spAutoFit/>
          </a:bodyPr>
          <a:lstStyle/>
          <a:p>
            <a:pPr algn="l"/>
            <a:r>
              <a:rPr sz="1100" b="0" i="0">
                <a:solidFill>
                  <a:srgbClr val="64748B"/>
                </a:solidFill>
                <a:latin typeface="Inter"/>
              </a:rPr>
              <a:t>Bulk extraction across many docs.</a:t>
            </a:r>
          </a:p>
        </p:txBody>
      </p:sp>
      <p:sp>
        <p:nvSpPr>
          <p:cNvPr id="8" name="TextBox 7"/>
          <p:cNvSpPr txBox="1"/>
          <p:nvPr/>
        </p:nvSpPr>
        <p:spPr>
          <a:xfrm>
            <a:off x="868680" y="2569464"/>
            <a:ext cx="4907127" cy="594360"/>
          </a:xfrm>
          <a:prstGeom prst="rect">
            <a:avLst/>
          </a:prstGeom>
          <a:noFill/>
        </p:spPr>
        <p:txBody>
          <a:bodyPr wrap="square">
            <a:spAutoFit/>
          </a:bodyPr>
          <a:lstStyle/>
          <a:p>
            <a:pPr algn="l"/>
            <a:r>
              <a:rPr sz="1100" b="0" i="1">
                <a:solidFill>
                  <a:srgbClr val="2563EB"/>
                </a:solidFill>
                <a:latin typeface="Inter"/>
              </a:rPr>
              <a:t>↑ Trigger: Re-enters at V-next once bulk-extraction pattern is validated in user data.</a:t>
            </a:r>
          </a:p>
        </p:txBody>
      </p:sp>
      <p:sp>
        <p:nvSpPr>
          <p:cNvPr id="9" name="Rectangle 8"/>
          <p:cNvSpPr/>
          <p:nvPr/>
        </p:nvSpPr>
        <p:spPr>
          <a:xfrm>
            <a:off x="6233007" y="1764792"/>
            <a:ext cx="5272887" cy="1508760"/>
          </a:xfrm>
          <a:prstGeom prst="rect">
            <a:avLst/>
          </a:prstGeom>
          <a:solidFill>
            <a:srgbClr val="F1F5F9"/>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15887" y="1901952"/>
            <a:ext cx="4907127" cy="347472"/>
          </a:xfrm>
          <a:prstGeom prst="rect">
            <a:avLst/>
          </a:prstGeom>
          <a:noFill/>
        </p:spPr>
        <p:txBody>
          <a:bodyPr wrap="square">
            <a:spAutoFit/>
          </a:bodyPr>
          <a:lstStyle/>
          <a:p>
            <a:pPr algn="l"/>
            <a:r>
              <a:rPr sz="1400" b="1" i="0">
                <a:solidFill>
                  <a:srgbClr val="0F172A"/>
                </a:solidFill>
                <a:latin typeface="Inter"/>
              </a:rPr>
              <a:t>✕  Deep Research</a:t>
            </a:r>
          </a:p>
        </p:txBody>
      </p:sp>
      <p:sp>
        <p:nvSpPr>
          <p:cNvPr id="11" name="TextBox 10"/>
          <p:cNvSpPr txBox="1"/>
          <p:nvPr/>
        </p:nvSpPr>
        <p:spPr>
          <a:xfrm>
            <a:off x="6415887" y="2267712"/>
            <a:ext cx="4907127" cy="274320"/>
          </a:xfrm>
          <a:prstGeom prst="rect">
            <a:avLst/>
          </a:prstGeom>
          <a:noFill/>
        </p:spPr>
        <p:txBody>
          <a:bodyPr wrap="square">
            <a:spAutoFit/>
          </a:bodyPr>
          <a:lstStyle/>
          <a:p>
            <a:pPr algn="l"/>
            <a:r>
              <a:rPr sz="1100" b="0" i="0">
                <a:solidFill>
                  <a:srgbClr val="64748B"/>
                </a:solidFill>
                <a:latin typeface="Inter"/>
              </a:rPr>
              <a:t>Multi-step investigations.</a:t>
            </a:r>
          </a:p>
        </p:txBody>
      </p:sp>
      <p:sp>
        <p:nvSpPr>
          <p:cNvPr id="12" name="TextBox 11"/>
          <p:cNvSpPr txBox="1"/>
          <p:nvPr/>
        </p:nvSpPr>
        <p:spPr>
          <a:xfrm>
            <a:off x="6415887" y="2569464"/>
            <a:ext cx="4907127" cy="594360"/>
          </a:xfrm>
          <a:prstGeom prst="rect">
            <a:avLst/>
          </a:prstGeom>
          <a:noFill/>
        </p:spPr>
        <p:txBody>
          <a:bodyPr wrap="square">
            <a:spAutoFit/>
          </a:bodyPr>
          <a:lstStyle/>
          <a:p>
            <a:pPr algn="l"/>
            <a:r>
              <a:rPr sz="1100" b="0" i="1">
                <a:solidFill>
                  <a:srgbClr val="2563EB"/>
                </a:solidFill>
                <a:latin typeface="Inter"/>
              </a:rPr>
              <a:t>↑ Trigger: Different latency / cost shape. V-next once 30%+ of queries are investigative-multi-step.</a:t>
            </a:r>
          </a:p>
        </p:txBody>
      </p:sp>
      <p:sp>
        <p:nvSpPr>
          <p:cNvPr id="13" name="Rectangle 12"/>
          <p:cNvSpPr/>
          <p:nvPr/>
        </p:nvSpPr>
        <p:spPr>
          <a:xfrm>
            <a:off x="685800" y="3410712"/>
            <a:ext cx="5272887" cy="1508760"/>
          </a:xfrm>
          <a:prstGeom prst="rect">
            <a:avLst/>
          </a:prstGeom>
          <a:solidFill>
            <a:srgbClr val="F1F5F9"/>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547872"/>
            <a:ext cx="4907127" cy="347472"/>
          </a:xfrm>
          <a:prstGeom prst="rect">
            <a:avLst/>
          </a:prstGeom>
          <a:noFill/>
        </p:spPr>
        <p:txBody>
          <a:bodyPr wrap="square">
            <a:spAutoFit/>
          </a:bodyPr>
          <a:lstStyle/>
          <a:p>
            <a:pPr algn="l"/>
            <a:r>
              <a:rPr sz="1400" b="1" i="0">
                <a:solidFill>
                  <a:srgbClr val="0F172A"/>
                </a:solidFill>
                <a:latin typeface="Inter"/>
              </a:rPr>
              <a:t>✕  Always-on full citation-check</a:t>
            </a:r>
          </a:p>
        </p:txBody>
      </p:sp>
      <p:sp>
        <p:nvSpPr>
          <p:cNvPr id="15" name="TextBox 14"/>
          <p:cNvSpPr txBox="1"/>
          <p:nvPr/>
        </p:nvSpPr>
        <p:spPr>
          <a:xfrm>
            <a:off x="868680" y="3913632"/>
            <a:ext cx="4907127" cy="274320"/>
          </a:xfrm>
          <a:prstGeom prst="rect">
            <a:avLst/>
          </a:prstGeom>
          <a:noFill/>
        </p:spPr>
        <p:txBody>
          <a:bodyPr wrap="square">
            <a:spAutoFit/>
          </a:bodyPr>
          <a:lstStyle/>
          <a:p>
            <a:pPr algn="l"/>
            <a:r>
              <a:rPr sz="1100" b="0" i="0">
                <a:solidFill>
                  <a:srgbClr val="64748B"/>
                </a:solidFill>
                <a:latin typeface="Inter"/>
              </a:rPr>
              <a:t>Every claim, every time.</a:t>
            </a:r>
          </a:p>
        </p:txBody>
      </p:sp>
      <p:sp>
        <p:nvSpPr>
          <p:cNvPr id="16" name="TextBox 15"/>
          <p:cNvSpPr txBox="1"/>
          <p:nvPr/>
        </p:nvSpPr>
        <p:spPr>
          <a:xfrm>
            <a:off x="868680" y="4215384"/>
            <a:ext cx="4907127" cy="594360"/>
          </a:xfrm>
          <a:prstGeom prst="rect">
            <a:avLst/>
          </a:prstGeom>
          <a:noFill/>
        </p:spPr>
        <p:txBody>
          <a:bodyPr wrap="square">
            <a:spAutoFit/>
          </a:bodyPr>
          <a:lstStyle/>
          <a:p>
            <a:pPr algn="l"/>
            <a:r>
              <a:rPr sz="1100" b="0" i="1">
                <a:solidFill>
                  <a:srgbClr val="2563EB"/>
                </a:solidFill>
                <a:latin typeface="Inter"/>
              </a:rPr>
              <a:t>↑ Trigger: Sampled on low-stakes is enough. Gate by domain / sensitivity label, not a universal tax.</a:t>
            </a:r>
          </a:p>
        </p:txBody>
      </p:sp>
      <p:sp>
        <p:nvSpPr>
          <p:cNvPr id="17" name="Rectangle 16"/>
          <p:cNvSpPr/>
          <p:nvPr/>
        </p:nvSpPr>
        <p:spPr>
          <a:xfrm>
            <a:off x="6233007" y="3410712"/>
            <a:ext cx="5272887" cy="1508760"/>
          </a:xfrm>
          <a:prstGeom prst="rect">
            <a:avLst/>
          </a:prstGeom>
          <a:solidFill>
            <a:srgbClr val="F1F5F9"/>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5887" y="3547872"/>
            <a:ext cx="4907127" cy="347472"/>
          </a:xfrm>
          <a:prstGeom prst="rect">
            <a:avLst/>
          </a:prstGeom>
          <a:noFill/>
        </p:spPr>
        <p:txBody>
          <a:bodyPr wrap="square">
            <a:spAutoFit/>
          </a:bodyPr>
          <a:lstStyle/>
          <a:p>
            <a:pPr algn="l"/>
            <a:r>
              <a:rPr sz="1400" b="1" i="0">
                <a:solidFill>
                  <a:srgbClr val="0F172A"/>
                </a:solidFill>
                <a:latin typeface="Inter"/>
              </a:rPr>
              <a:t>✕  GraphRAG by default</a:t>
            </a:r>
          </a:p>
        </p:txBody>
      </p:sp>
      <p:sp>
        <p:nvSpPr>
          <p:cNvPr id="19" name="TextBox 18"/>
          <p:cNvSpPr txBox="1"/>
          <p:nvPr/>
        </p:nvSpPr>
        <p:spPr>
          <a:xfrm>
            <a:off x="6415887" y="3913632"/>
            <a:ext cx="4907127" cy="274320"/>
          </a:xfrm>
          <a:prstGeom prst="rect">
            <a:avLst/>
          </a:prstGeom>
          <a:noFill/>
        </p:spPr>
        <p:txBody>
          <a:bodyPr wrap="square">
            <a:spAutoFit/>
          </a:bodyPr>
          <a:lstStyle/>
          <a:p>
            <a:pPr algn="l"/>
            <a:r>
              <a:rPr sz="1100" b="0" i="0">
                <a:solidFill>
                  <a:srgbClr val="64748B"/>
                </a:solidFill>
                <a:latin typeface="Inter"/>
              </a:rPr>
              <a:t>Graph store in the default path.</a:t>
            </a:r>
          </a:p>
        </p:txBody>
      </p:sp>
      <p:sp>
        <p:nvSpPr>
          <p:cNvPr id="20" name="TextBox 19"/>
          <p:cNvSpPr txBox="1"/>
          <p:nvPr/>
        </p:nvSpPr>
        <p:spPr>
          <a:xfrm>
            <a:off x="6415887" y="4215384"/>
            <a:ext cx="4907127" cy="594360"/>
          </a:xfrm>
          <a:prstGeom prst="rect">
            <a:avLst/>
          </a:prstGeom>
          <a:noFill/>
        </p:spPr>
        <p:txBody>
          <a:bodyPr wrap="square">
            <a:spAutoFit/>
          </a:bodyPr>
          <a:lstStyle/>
          <a:p>
            <a:pPr algn="l"/>
            <a:r>
              <a:rPr sz="1100" b="0" i="1">
                <a:solidFill>
                  <a:srgbClr val="2563EB"/>
                </a:solidFill>
                <a:latin typeface="Inter"/>
              </a:rPr>
              <a:t>↑ Trigger: Build cost is real. Gated — earned by corpus shape, not added speculatively.</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685800" y="0"/>
            <a:ext cx="108200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685800"/>
            <a:ext cx="10820095" cy="594360"/>
          </a:xfrm>
          <a:prstGeom prst="rect">
            <a:avLst/>
          </a:prstGeom>
          <a:noFill/>
        </p:spPr>
        <p:txBody>
          <a:bodyPr wrap="square">
            <a:spAutoFit/>
          </a:bodyPr>
          <a:lstStyle/>
          <a:p>
            <a:pPr algn="l"/>
            <a:r>
              <a:rPr sz="3000" b="1" i="0">
                <a:solidFill>
                  <a:srgbClr val="FFFFFF"/>
                </a:solidFill>
                <a:latin typeface="Inter"/>
              </a:rPr>
              <a:t>What I'd want to defend.</a:t>
            </a:r>
          </a:p>
        </p:txBody>
      </p:sp>
      <p:sp>
        <p:nvSpPr>
          <p:cNvPr id="4" name="TextBox 3"/>
          <p:cNvSpPr txBox="1"/>
          <p:nvPr/>
        </p:nvSpPr>
        <p:spPr>
          <a:xfrm>
            <a:off x="685800" y="1600200"/>
            <a:ext cx="10820095" cy="1188720"/>
          </a:xfrm>
          <a:prstGeom prst="rect">
            <a:avLst/>
          </a:prstGeom>
          <a:noFill/>
        </p:spPr>
        <p:txBody>
          <a:bodyPr wrap="square">
            <a:spAutoFit/>
          </a:bodyPr>
          <a:lstStyle/>
          <a:p>
            <a:pPr>
              <a:spcAft>
                <a:spcPts val="400"/>
              </a:spcAft>
            </a:pPr>
            <a:r>
              <a:rPr sz="1600" b="1">
                <a:solidFill>
                  <a:srgbClr val="2563EB"/>
                </a:solidFill>
                <a:latin typeface="Inter"/>
              </a:rPr>
              <a:t>The frame:       </a:t>
            </a:r>
            <a:r>
              <a:rPr sz="1600" b="0">
                <a:solidFill>
                  <a:srgbClr val="FFFFFF"/>
                </a:solidFill>
                <a:latin typeface="Inter"/>
              </a:rPr>
              <a:t>  In regulated domains, a confident wrong answer is the worst outcome.
So we cite, or we refuse.</a:t>
            </a:r>
          </a:p>
        </p:txBody>
      </p:sp>
      <p:sp>
        <p:nvSpPr>
          <p:cNvPr id="5" name="TextBox 4"/>
          <p:cNvSpPr txBox="1"/>
          <p:nvPr/>
        </p:nvSpPr>
        <p:spPr>
          <a:xfrm>
            <a:off x="685800" y="2880360"/>
            <a:ext cx="10820095" cy="1188720"/>
          </a:xfrm>
          <a:prstGeom prst="rect">
            <a:avLst/>
          </a:prstGeom>
          <a:noFill/>
        </p:spPr>
        <p:txBody>
          <a:bodyPr wrap="square">
            <a:spAutoFit/>
          </a:bodyPr>
          <a:lstStyle/>
          <a:p>
            <a:pPr>
              <a:spcAft>
                <a:spcPts val="400"/>
              </a:spcAft>
            </a:pPr>
            <a:r>
              <a:rPr sz="1600" b="1">
                <a:solidFill>
                  <a:srgbClr val="2563EB"/>
                </a:solidFill>
                <a:latin typeface="Inter"/>
              </a:rPr>
              <a:t>The architecture:</a:t>
            </a:r>
            <a:r>
              <a:rPr sz="1600" b="0">
                <a:solidFill>
                  <a:srgbClr val="FFFFFF"/>
                </a:solidFill>
                <a:latin typeface="Inter"/>
              </a:rPr>
              <a:t>  Three stores by question type. Two passes. One promise.
Governance and deployment run through everything.</a:t>
            </a:r>
          </a:p>
        </p:txBody>
      </p:sp>
      <p:sp>
        <p:nvSpPr>
          <p:cNvPr id="6" name="TextBox 5"/>
          <p:cNvSpPr txBox="1"/>
          <p:nvPr/>
        </p:nvSpPr>
        <p:spPr>
          <a:xfrm>
            <a:off x="685800" y="4160520"/>
            <a:ext cx="10820095" cy="1188720"/>
          </a:xfrm>
          <a:prstGeom prst="rect">
            <a:avLst/>
          </a:prstGeom>
          <a:noFill/>
        </p:spPr>
        <p:txBody>
          <a:bodyPr wrap="square">
            <a:spAutoFit/>
          </a:bodyPr>
          <a:lstStyle/>
          <a:p>
            <a:pPr>
              <a:spcAft>
                <a:spcPts val="400"/>
              </a:spcAft>
            </a:pPr>
            <a:r>
              <a:rPr sz="1600" b="1">
                <a:solidFill>
                  <a:srgbClr val="2563EB"/>
                </a:solidFill>
                <a:latin typeface="Inter"/>
              </a:rPr>
              <a:t>The discipline:  </a:t>
            </a:r>
            <a:r>
              <a:rPr sz="1600" b="0">
                <a:solidFill>
                  <a:srgbClr val="FFFFFF"/>
                </a:solidFill>
                <a:latin typeface="Inter"/>
              </a:rPr>
              <a:t>  Gate the expensive steps. Refuse the unsupported.
Leave the unproven features for V-next.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10820095" cy="566928"/>
          </a:xfrm>
          <a:prstGeom prst="rect">
            <a:avLst/>
          </a:prstGeom>
          <a:noFill/>
        </p:spPr>
        <p:txBody>
          <a:bodyPr wrap="square">
            <a:spAutoFit/>
          </a:bodyPr>
          <a:lstStyle/>
          <a:p>
            <a:pPr algn="l"/>
            <a:r>
              <a:rPr sz="2600" b="1" i="0">
                <a:solidFill>
                  <a:srgbClr val="0F172A"/>
                </a:solidFill>
                <a:latin typeface="Inter"/>
              </a:rPr>
              <a:t>Appendix: what else exists</a:t>
            </a:r>
          </a:p>
        </p:txBody>
      </p:sp>
      <p:sp>
        <p:nvSpPr>
          <p:cNvPr id="3" name="TextBox 2"/>
          <p:cNvSpPr txBox="1"/>
          <p:nvPr/>
        </p:nvSpPr>
        <p:spPr>
          <a:xfrm>
            <a:off x="685800" y="1069848"/>
            <a:ext cx="10820095" cy="347472"/>
          </a:xfrm>
          <a:prstGeom prst="rect">
            <a:avLst/>
          </a:prstGeom>
          <a:noFill/>
        </p:spPr>
        <p:txBody>
          <a:bodyPr wrap="square">
            <a:spAutoFit/>
          </a:bodyPr>
          <a:lstStyle/>
          <a:p>
            <a:pPr algn="l"/>
            <a:r>
              <a:rPr sz="1400" b="0" i="1">
                <a:solidFill>
                  <a:srgbClr val="64748B"/>
                </a:solidFill>
                <a:latin typeface="Inter"/>
              </a:rPr>
              <a:t>What I'm submitting alongside this deck</a:t>
            </a:r>
          </a:p>
        </p:txBody>
      </p:sp>
      <p:sp>
        <p:nvSpPr>
          <p:cNvPr id="4" name="Rectangle 3"/>
          <p:cNvSpPr/>
          <p:nvPr/>
        </p:nvSpPr>
        <p:spPr>
          <a:xfrm>
            <a:off x="685800" y="1453896"/>
            <a:ext cx="10820095" cy="1905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856232"/>
            <a:ext cx="10820095" cy="4572000"/>
          </a:xfrm>
          <a:prstGeom prst="rect">
            <a:avLst/>
          </a:prstGeom>
          <a:noFill/>
        </p:spPr>
        <p:txBody>
          <a:bodyPr wrap="square">
            <a:spAutoFit/>
          </a:bodyPr>
          <a:lstStyle/>
          <a:p>
            <a:pPr algn="l">
              <a:spcBef>
                <a:spcPts val="0"/>
              </a:spcBef>
              <a:spcAft>
                <a:spcPts val="400"/>
              </a:spcAft>
            </a:pPr>
            <a:r>
              <a:rPr b="1" sz="1500">
                <a:solidFill>
                  <a:srgbClr val="0F172A"/>
                </a:solidFill>
                <a:latin typeface="Inter"/>
              </a:rPr>
              <a:t>— Full PRD</a:t>
            </a:r>
            <a:r>
              <a:rPr b="0" sz="1300">
                <a:solidFill>
                  <a:srgbClr val="64748B"/>
                </a:solidFill>
                <a:latin typeface="Inter"/>
              </a:rPr>
              <a:t>   16 sections — problem, personas, JTBD, full functional spec, NFRs, edge cases, KPIs, rollout, Jira mapping</a:t>
            </a:r>
          </a:p>
          <a:p>
            <a:pPr algn="l">
              <a:spcBef>
                <a:spcPts val="1600"/>
              </a:spcBef>
              <a:spcAft>
                <a:spcPts val="400"/>
              </a:spcAft>
            </a:pPr>
            <a:r>
              <a:rPr b="1" sz="1500">
                <a:solidFill>
                  <a:srgbClr val="0F172A"/>
                </a:solidFill>
                <a:latin typeface="Inter"/>
              </a:rPr>
              <a:t>— Deep-Dive HLD</a:t>
            </a:r>
            <a:r>
              <a:rPr b="0" sz="1300">
                <a:solidFill>
                  <a:srgbClr val="64748B"/>
                </a:solidFill>
                <a:latin typeface="Inter"/>
              </a:rPr>
              <a:t>   Every component, every tradeoff, the master architecture diagram</a:t>
            </a:r>
          </a:p>
          <a:p>
            <a:pPr algn="l">
              <a:spcBef>
                <a:spcPts val="1600"/>
              </a:spcBef>
              <a:spcAft>
                <a:spcPts val="400"/>
              </a:spcAft>
            </a:pPr>
            <a:r>
              <a:rPr b="1" sz="1500">
                <a:solidFill>
                  <a:srgbClr val="0F172A"/>
                </a:solidFill>
                <a:latin typeface="Inter"/>
              </a:rPr>
              <a:t>— API design</a:t>
            </a:r>
            <a:r>
              <a:rPr b="0" sz="1300">
                <a:solidFill>
                  <a:srgbClr val="64748B"/>
                </a:solidFill>
                <a:latin typeface="Inter"/>
              </a:rPr>
              <a:t>   Full request/response schemas, failure handling, design rationale</a:t>
            </a:r>
          </a:p>
          <a:p>
            <a:pPr algn="l">
              <a:spcBef>
                <a:spcPts val="1600"/>
              </a:spcBef>
              <a:spcAft>
                <a:spcPts val="400"/>
              </a:spcAft>
            </a:pPr>
            <a:r>
              <a:rPr b="1" sz="1500">
                <a:solidFill>
                  <a:srgbClr val="0F172A"/>
                </a:solidFill>
                <a:latin typeface="Inter"/>
              </a:rPr>
              <a:t>— Wireframes</a:t>
            </a:r>
            <a:r>
              <a:rPr b="0" sz="1300">
                <a:solidFill>
                  <a:srgbClr val="64748B"/>
                </a:solidFill>
                <a:latin typeface="Inter"/>
              </a:rPr>
              <a:t>   3 core screens + 2 variants + error-state grid</a:t>
            </a:r>
          </a:p>
          <a:p>
            <a:pPr algn="l">
              <a:spcBef>
                <a:spcPts val="1600"/>
              </a:spcBef>
              <a:spcAft>
                <a:spcPts val="400"/>
              </a:spcAft>
            </a:pPr>
            <a:r>
              <a:rPr b="1" sz="1500">
                <a:solidFill>
                  <a:srgbClr val="0F172A"/>
                </a:solidFill>
                <a:latin typeface="Inter"/>
              </a:rPr>
              <a:t>— Discovery &amp; assumptions</a:t>
            </a:r>
            <a:r>
              <a:rPr b="0" sz="1300">
                <a:solidFill>
                  <a:srgbClr val="64748B"/>
                </a:solidFill>
                <a:latin typeface="Inter"/>
              </a:rPr>
              <a:t>   Full log of what was asked, assumed, and why</a:t>
            </a:r>
          </a:p>
          <a:p>
            <a:pPr algn="l">
              <a:spcBef>
                <a:spcPts val="1600"/>
              </a:spcBef>
              <a:spcAft>
                <a:spcPts val="400"/>
              </a:spcAft>
            </a:pPr>
            <a:r>
              <a:rPr b="1" sz="1500">
                <a:solidFill>
                  <a:srgbClr val="0F172A"/>
                </a:solidFill>
                <a:latin typeface="Inter"/>
              </a:rPr>
              <a:t>— Tooling research</a:t>
            </a:r>
            <a:r>
              <a:rPr b="0" sz="1300">
                <a:solidFill>
                  <a:srgbClr val="64748B"/>
                </a:solidFill>
                <a:latin typeface="Inter"/>
              </a:rPr>
              <a:t>   Verified 2026 stack defaults with sourced benchmarks</a:t>
            </a:r>
          </a:p>
        </p:txBody>
      </p:sp>
      <p:sp>
        <p:nvSpPr>
          <p:cNvPr id="6" name="TextBox 5"/>
          <p:cNvSpPr txBox="1"/>
          <p:nvPr/>
        </p:nvSpPr>
        <p:spPr>
          <a:xfrm>
            <a:off x="685800" y="5989320"/>
            <a:ext cx="10820095" cy="548640"/>
          </a:xfrm>
          <a:prstGeom prst="rect">
            <a:avLst/>
          </a:prstGeom>
          <a:noFill/>
        </p:spPr>
        <p:txBody>
          <a:bodyPr wrap="square">
            <a:spAutoFit/>
          </a:bodyPr>
          <a:lstStyle/>
          <a:p>
            <a:pPr algn="ctr"/>
            <a:r>
              <a:rPr sz="1400" b="0" i="1">
                <a:solidFill>
                  <a:srgbClr val="64748B"/>
                </a:solidFill>
                <a:latin typeface="Inter"/>
              </a:rPr>
              <a:t>Each document goes deeper than the deck. The deck is the spine; the documents are the depth.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